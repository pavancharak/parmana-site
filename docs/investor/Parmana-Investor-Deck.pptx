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f1139a4-ee33-5202-f171-22594e35f974}">
          <p14:sldIdLst>
            <p14:sldId id="256"/>
            <p14:sldId id="257"/>
          </p14:sldIdLst>
        </p14:section>
        <p14:section name="Problem" id="{d93364ac-0817-f349-4338-ab70212915cc}">
          <p14:sldIdLst>
            <p14:sldId id="258"/>
            <p14:sldId id="259"/>
          </p14:sldIdLst>
        </p14:section>
        <p14:section name="Solution" id="{65b20229-2d34-98ce-0ce7-2edabcc2540f}">
          <p14:sldIdLst>
            <p14:sldId id="260"/>
            <p14:sldId id="261"/>
            <p14:sldId id="262"/>
          </p14:sldIdLst>
        </p14:section>
        <p14:section name="Product" id="{9e9ce90b-c350-7cdc-0da3-2b112e81128b}">
          <p14:sldIdLst>
            <p14:sldId id="263"/>
            <p14:sldId id="264"/>
            <p14:sldId id="265"/>
          </p14:sldIdLst>
        </p14:section>
        <p14:section name="Business" id="{0e599bb4-e40d-9bce-9cf4-3a571fe0c935}">
          <p14:sldIdLst>
            <p14:sldId id="266"/>
            <p14:sldId id="267"/>
            <p14:sldId id="268"/>
            <p14:sldId id="269"/>
          </p14:sldIdLst>
        </p14:section>
        <p14:section name="Close" id="{674b45f8-e905-d034-01dc-d8aa00c303e6}">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Parmana is authority infrastructure for autonomous systems. We make the systems a business already runs ready for autonomy: we enforce business authority over the actions autonomous systems request, and we produce evidence that anyone can verify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away: the problem, what Parmana does about it, where we start in the market, and what we are raising.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Companies shipping agents to production are discovering that existing infrastructure was built for human operators. The authorization models that work for people do not map to systems that request decisions at machine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incident shared by a builder (anonymized). The point is not that the agent was malicious. The business rule existed, but nothing enforced it at the moment of execution, and nobody could prove afterwards whether authority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Ready: we work with the systems a business already runs, nothing is rebuilt. Enforce: business rules become execution boundaries for requests routed through Parmana. Prove: every decision is signed and verifiable without trusting the AI system 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autonomous system sends its request through Parmana. Parmana checks it against the business's declared authority. Allowed requests get a signed, single use authorization that the gateway checks again before release; anything else never reaches the system. Every decision leaves a signed record that verifies offline with the business's public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rule, not customer data. A ₹42,000 request would proceed once, with the same evidence kept. This is the interactive example on parmanasystems.com.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exists in the product today and is documented publicly, including a page of what we do not claim. Source is available for evaluation on GitHub, with a public playground and an audit guide for 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shape what a model proposes, inside the model vendor's stack. IAM and gateways decide who may call an API, not whether this specific refund is within business authority. Logs tell you afterwards. Parmana is the business's own authority check at execution, with proof that does not depend on trusting the AI system or Parmana.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rules, not customer data. Live walkthroughs for each are at parmanasystems.com/agents?use=refund, payment, procurement, customer and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PSPs are the natural entry point because merchants deploy agents that move money inside their platforms. Every sales conversation starts with one consequential workflow, which is also what the demo booking page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figures are our own top-down estimates. Be ready to walk through the assumptions; do not present them as analyst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Pre-revenue. The September hardening added 68 unit tests (209 total at the time). Keep this slide current before each send: update test counts, design partners and pilots only with what is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Hiring plan funded by the round: integration engineers for PSP partnerships, and enterprise go-to-market.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rebuilding payments or regulation. The money connects the authority layer to systems and processes already in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Offer the live demo at parmanasystems.com/demo and the evaluation guide for technical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M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51560"/>
            <a:ext cx="8046720" cy="320040"/>
          </a:xfrm>
          <a:prstGeom prst="rect">
            <a:avLst/>
          </a:prstGeom>
          <a:noFill/>
          <a:ln/>
        </p:spPr>
        <p:txBody>
          <a:bodyPr wrap="square" rtlCol="0"/>
          <a:lstStyle>
            <a:lvl1pPr indent="0" marL="0">
              <a:buNone/>
              <a:defRPr lang="en-US" sz="1100" b="1" spc="300" kern="0"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548640" y="1417320"/>
            <a:ext cx="8046720" cy="16002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246120"/>
            <a:ext cx="8046720" cy="5486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M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rtlCol="0"/>
          <a:lstStyle>
            <a:lvl1pPr indent="0" marL="0">
              <a:buNone/>
              <a:defRPr lang="en-US" sz="1100" b="1" spc="300" kern="0" dirty="0">
                <a:solidFill>
                  <a:schemeClr val="tx2"/>
                </a:solidFill>
              </a:defRPr>
            </a:lvl1pPr>
          </a:lstStyle>
          <a:p>
            <a:pPr indent="0" marL="0">
              <a:buNone/>
            </a:pP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accent4"/>
                </a:solidFill>
              </a:rPr>
              <a:t>Parmana  |  Confidential</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51560"/>
            <a:ext cx="8046720" cy="320040"/>
          </a:xfrm>
          <a:prstGeom prst="rect">
            <a:avLst/>
          </a:prstGeom>
          <a:noFill/>
          <a:ln/>
        </p:spPr>
        <p:txBody>
          <a:bodyPr wrap="square" lIns="0" tIns="0" rIns="0" bIns="0" rtlCol="0"/>
          <a:lstStyle/>
          <a:p>
            <a:pPr indent="0" marL="0">
              <a:buNone/>
            </a:pPr>
            <a:r>
              <a:rPr lang="en-US" sz="1100" b="1" spc="300" kern="0" dirty="0">
                <a:solidFill>
                  <a:schemeClr val="accent5"/>
                </a:solidFill>
              </a:rPr>
              <a:t>AUTHORITY INFRASTRUCTURE FOR AUTONOMOUS SYSTEMS</a:t>
            </a:r>
            <a:endParaRPr lang="en-US" sz="1100" dirty="0"/>
          </a:p>
        </p:txBody>
      </p:sp>
      <p:sp>
        <p:nvSpPr>
          <p:cNvPr id="3" name="Text 0"/>
          <p:cNvSpPr/>
          <p:nvPr>
            <p:ph idx="101" type="title" hasCustomPrompt="1"/>
          </p:nvPr>
        </p:nvSpPr>
        <p:spPr>
          <a:xfrm>
            <a:off x="548640" y="1417320"/>
            <a:ext cx="8046720" cy="1600200"/>
          </a:xfrm>
          <a:prstGeom prst="rect">
            <a:avLst/>
          </a:prstGeom>
          <a:noFill/>
          <a:ln/>
        </p:spPr>
        <p:txBody>
          <a:bodyPr wrap="square" lIns="0" tIns="0" rIns="0" bIns="0" rtlCol="0" anchor="t"/>
          <a:lstStyle/>
          <a:p>
            <a:pPr algn="l" indent="0" marL="0">
              <a:buNone/>
            </a:pPr>
            <a:r>
              <a:rPr lang="en-US" sz="4000" b="1" dirty="0">
                <a:solidFill>
                  <a:schemeClr val="bg1"/>
                </a:solidFill>
              </a:rPr>
              <a:t>Make your business ready for autonomy</a:t>
            </a:r>
            <a:endParaRPr lang="en-US" sz="4000" dirty="0"/>
          </a:p>
        </p:txBody>
      </p:sp>
      <p:sp>
        <p:nvSpPr>
          <p:cNvPr id="4" name="Text 0"/>
          <p:cNvSpPr/>
          <p:nvPr>
            <p:ph idx="102" type="body" hasCustomPrompt="1"/>
          </p:nvPr>
        </p:nvSpPr>
        <p:spPr>
          <a:xfrm>
            <a:off x="548640" y="3246120"/>
            <a:ext cx="8046720" cy="548640"/>
          </a:xfrm>
          <a:prstGeom prst="rect">
            <a:avLst/>
          </a:prstGeom>
          <a:noFill/>
          <a:ln/>
        </p:spPr>
        <p:txBody>
          <a:bodyPr wrap="square" lIns="0" tIns="0" rIns="0" bIns="0" rtlCol="0"/>
          <a:lstStyle/>
          <a:p>
            <a:pPr indent="0" marL="0">
              <a:buNone/>
            </a:pPr>
            <a:r>
              <a:rPr lang="en-US" sz="2000" dirty="0">
                <a:solidFill>
                  <a:schemeClr val="accent5"/>
                </a:solidFill>
              </a:rPr>
              <a:t>Ready. Enforced. Proven.</a:t>
            </a:r>
            <a:endParaRPr lang="en-US" sz="2000" dirty="0"/>
          </a:p>
        </p:txBody>
      </p:sp>
      <p:sp>
        <p:nvSpPr>
          <p:cNvPr id="5" name="Text 3"/>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200" dirty="0">
                <a:solidFill>
                  <a:schemeClr val="accent5"/>
                </a:solidFill>
              </a:rPr>
              <a:t>Parmana Systems Private Limited  |  Series A  |  October 2026</a:t>
            </a:r>
            <a:endParaRPr lang="en-US" sz="1200" dirty="0"/>
          </a:p>
        </p:txBody>
      </p:sp>
      <p:sp>
        <p:nvSpPr>
          <p:cNvPr id="6" name="Shape 4"/>
          <p:cNvSpPr/>
          <p:nvPr/>
        </p:nvSpPr>
        <p:spPr>
          <a:xfrm>
            <a:off x="7589520" y="-1097280"/>
            <a:ext cx="2926080" cy="2926080"/>
          </a:xfrm>
          <a:prstGeom prst="ellipse">
            <a:avLst/>
          </a:prstGeom>
          <a:solidFill>
            <a:schemeClr val="accent1">
              <a:alpha val="30000"/>
            </a:schemeClr>
          </a:solidFill>
          <a:ln w="12700">
            <a:solidFill>
              <a:schemeClr val="accent1">
                <a:alpha val="0"/>
              </a:scheme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SUMMARY</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The authority layer for autonomous systems</a:t>
            </a:r>
            <a:endParaRPr lang="en-US" sz="2800" dirty="0"/>
          </a:p>
        </p:txBody>
      </p:sp>
      <p:sp>
        <p:nvSpPr>
          <p:cNvPr id="4" name="summary-Problem"/>
          <p:cNvSpPr/>
          <p:nvPr/>
        </p:nvSpPr>
        <p:spPr>
          <a:xfrm>
            <a:off x="457200" y="1508760"/>
            <a:ext cx="1920240" cy="2834640"/>
          </a:xfrm>
          <a:prstGeom prst="roundRect">
            <a:avLst>
              <a:gd name="adj" fmla="val 3810"/>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Shape 3"/>
          <p:cNvSpPr/>
          <p:nvPr/>
        </p:nvSpPr>
        <p:spPr>
          <a:xfrm>
            <a:off x="685800" y="17830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68580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685800" y="2331720"/>
            <a:ext cx="1463040" cy="365760"/>
          </a:xfrm>
          <a:prstGeom prst="rect">
            <a:avLst/>
          </a:prstGeom>
          <a:noFill/>
          <a:ln/>
        </p:spPr>
        <p:txBody>
          <a:bodyPr wrap="square" lIns="0" tIns="0" rIns="0" bIns="0" rtlCol="0" anchor="t"/>
          <a:lstStyle/>
          <a:p>
            <a:pPr indent="0" marL="0">
              <a:buNone/>
            </a:pPr>
            <a:r>
              <a:rPr lang="en-US" sz="1800" b="1" dirty="0">
                <a:solidFill>
                  <a:schemeClr val="tx1"/>
                </a:solidFill>
              </a:rPr>
              <a:t>Problem</a:t>
            </a:r>
            <a:endParaRPr lang="en-US" sz="1800" dirty="0"/>
          </a:p>
        </p:txBody>
      </p:sp>
      <p:sp>
        <p:nvSpPr>
          <p:cNvPr id="8" name="Text 6"/>
          <p:cNvSpPr txBox="1"/>
          <p:nvPr/>
        </p:nvSpPr>
        <p:spPr>
          <a:xfrm>
            <a:off x="685800" y="2743200"/>
            <a:ext cx="1508760" cy="1463040"/>
          </a:xfrm>
          <a:prstGeom prst="rect">
            <a:avLst/>
          </a:prstGeom>
          <a:noFill/>
          <a:ln/>
        </p:spPr>
        <p:txBody>
          <a:bodyPr wrap="square" lIns="0" tIns="0" rIns="0" bIns="0" rtlCol="0" anchor="t"/>
          <a:lstStyle/>
          <a:p>
            <a:pPr indent="0" marL="0">
              <a:buNone/>
            </a:pPr>
            <a:r>
              <a:rPr lang="en-US" sz="1300" dirty="0">
                <a:solidFill>
                  <a:schemeClr val="accent4"/>
                </a:solidFill>
              </a:rPr>
              <a:t>Autonomous systems now request consequential actions. Business rules live on paper; execution happens in code.</a:t>
            </a:r>
            <a:endParaRPr lang="en-US" sz="1300" dirty="0"/>
          </a:p>
        </p:txBody>
      </p:sp>
      <p:sp>
        <p:nvSpPr>
          <p:cNvPr id="9" name="summary-Product"/>
          <p:cNvSpPr/>
          <p:nvPr/>
        </p:nvSpPr>
        <p:spPr>
          <a:xfrm>
            <a:off x="2560320" y="1508760"/>
            <a:ext cx="1920240" cy="2834640"/>
          </a:xfrm>
          <a:prstGeom prst="roundRect">
            <a:avLst>
              <a:gd name="adj" fmla="val 3810"/>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0" name="Shape 8"/>
          <p:cNvSpPr/>
          <p:nvPr/>
        </p:nvSpPr>
        <p:spPr>
          <a:xfrm>
            <a:off x="2788920" y="1783080"/>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278892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2788920" y="2331720"/>
            <a:ext cx="1463040" cy="365760"/>
          </a:xfrm>
          <a:prstGeom prst="rect">
            <a:avLst/>
          </a:prstGeom>
          <a:noFill/>
          <a:ln/>
        </p:spPr>
        <p:txBody>
          <a:bodyPr wrap="square" lIns="0" tIns="0" rIns="0" bIns="0" rtlCol="0" anchor="t"/>
          <a:lstStyle/>
          <a:p>
            <a:pPr indent="0" marL="0">
              <a:buNone/>
            </a:pPr>
            <a:r>
              <a:rPr lang="en-US" sz="1800" b="1" dirty="0">
                <a:solidFill>
                  <a:schemeClr val="tx1"/>
                </a:solidFill>
              </a:rPr>
              <a:t>Product</a:t>
            </a:r>
            <a:endParaRPr lang="en-US" sz="1800" dirty="0"/>
          </a:p>
        </p:txBody>
      </p:sp>
      <p:sp>
        <p:nvSpPr>
          <p:cNvPr id="13" name="Text 11"/>
          <p:cNvSpPr txBox="1"/>
          <p:nvPr/>
        </p:nvSpPr>
        <p:spPr>
          <a:xfrm>
            <a:off x="2788920" y="2743200"/>
            <a:ext cx="1508760" cy="1463040"/>
          </a:xfrm>
          <a:prstGeom prst="rect">
            <a:avLst/>
          </a:prstGeom>
          <a:noFill/>
          <a:ln/>
        </p:spPr>
        <p:txBody>
          <a:bodyPr wrap="square" lIns="0" tIns="0" rIns="0" bIns="0" rtlCol="0" anchor="t"/>
          <a:lstStyle/>
          <a:p>
            <a:pPr indent="0" marL="0">
              <a:buNone/>
            </a:pPr>
            <a:r>
              <a:rPr lang="en-US" sz="1300" dirty="0">
                <a:solidFill>
                  <a:schemeClr val="accent4"/>
                </a:solidFill>
              </a:rPr>
              <a:t>Parmana checks every routed request against business authority before execution and signs the decision.</a:t>
            </a:r>
            <a:endParaRPr lang="en-US" sz="1300" dirty="0"/>
          </a:p>
        </p:txBody>
      </p:sp>
      <p:sp>
        <p:nvSpPr>
          <p:cNvPr id="14" name="summary-Market"/>
          <p:cNvSpPr/>
          <p:nvPr/>
        </p:nvSpPr>
        <p:spPr>
          <a:xfrm>
            <a:off x="4663440" y="1508760"/>
            <a:ext cx="1920240" cy="2834640"/>
          </a:xfrm>
          <a:prstGeom prst="roundRect">
            <a:avLst>
              <a:gd name="adj" fmla="val 3810"/>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5" name="Shape 13"/>
          <p:cNvSpPr/>
          <p:nvPr/>
        </p:nvSpPr>
        <p:spPr>
          <a:xfrm>
            <a:off x="4892040" y="178308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489204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5"/>
          <p:cNvSpPr txBox="1"/>
          <p:nvPr/>
        </p:nvSpPr>
        <p:spPr>
          <a:xfrm>
            <a:off x="4892040" y="2331720"/>
            <a:ext cx="1463040" cy="365760"/>
          </a:xfrm>
          <a:prstGeom prst="rect">
            <a:avLst/>
          </a:prstGeom>
          <a:noFill/>
          <a:ln/>
        </p:spPr>
        <p:txBody>
          <a:bodyPr wrap="square" lIns="0" tIns="0" rIns="0" bIns="0" rtlCol="0" anchor="t"/>
          <a:lstStyle/>
          <a:p>
            <a:pPr indent="0" marL="0">
              <a:buNone/>
            </a:pPr>
            <a:r>
              <a:rPr lang="en-US" sz="1800" b="1" dirty="0">
                <a:solidFill>
                  <a:schemeClr val="tx1"/>
                </a:solidFill>
              </a:rPr>
              <a:t>Market</a:t>
            </a:r>
            <a:endParaRPr lang="en-US" sz="1800" dirty="0"/>
          </a:p>
        </p:txBody>
      </p:sp>
      <p:sp>
        <p:nvSpPr>
          <p:cNvPr id="18" name="Text 16"/>
          <p:cNvSpPr txBox="1"/>
          <p:nvPr/>
        </p:nvSpPr>
        <p:spPr>
          <a:xfrm>
            <a:off x="4892040" y="2743200"/>
            <a:ext cx="1508760" cy="1463040"/>
          </a:xfrm>
          <a:prstGeom prst="rect">
            <a:avLst/>
          </a:prstGeom>
          <a:noFill/>
          <a:ln/>
        </p:spPr>
        <p:txBody>
          <a:bodyPr wrap="square" lIns="0" tIns="0" rIns="0" bIns="0" rtlCol="0" anchor="t"/>
          <a:lstStyle/>
          <a:p>
            <a:pPr indent="0" marL="0">
              <a:buNone/>
            </a:pPr>
            <a:r>
              <a:rPr lang="en-US" sz="1300" dirty="0">
                <a:solidFill>
                  <a:schemeClr val="accent4"/>
                </a:solidFill>
              </a:rPr>
              <a:t>Wedge: autonomous payments in regulated fintech. Expands to every consequential workflow.</a:t>
            </a:r>
            <a:endParaRPr lang="en-US" sz="1300" dirty="0"/>
          </a:p>
        </p:txBody>
      </p:sp>
      <p:sp>
        <p:nvSpPr>
          <p:cNvPr id="19" name="summary-Ask"/>
          <p:cNvSpPr/>
          <p:nvPr/>
        </p:nvSpPr>
        <p:spPr>
          <a:xfrm>
            <a:off x="6766560" y="1508760"/>
            <a:ext cx="1920240" cy="2834640"/>
          </a:xfrm>
          <a:prstGeom prst="roundRect">
            <a:avLst>
              <a:gd name="adj" fmla="val 3810"/>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20" name="Shape 18"/>
          <p:cNvSpPr/>
          <p:nvPr/>
        </p:nvSpPr>
        <p:spPr>
          <a:xfrm>
            <a:off x="6995160" y="178308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699516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2" name="Text 20"/>
          <p:cNvSpPr txBox="1"/>
          <p:nvPr/>
        </p:nvSpPr>
        <p:spPr>
          <a:xfrm>
            <a:off x="6995160" y="2331720"/>
            <a:ext cx="1463040" cy="365760"/>
          </a:xfrm>
          <a:prstGeom prst="rect">
            <a:avLst/>
          </a:prstGeom>
          <a:noFill/>
          <a:ln/>
        </p:spPr>
        <p:txBody>
          <a:bodyPr wrap="square" lIns="0" tIns="0" rIns="0" bIns="0" rtlCol="0" anchor="t"/>
          <a:lstStyle/>
          <a:p>
            <a:pPr indent="0" marL="0">
              <a:buNone/>
            </a:pPr>
            <a:r>
              <a:rPr lang="en-US" sz="1800" b="1" dirty="0">
                <a:solidFill>
                  <a:schemeClr val="tx1"/>
                </a:solidFill>
              </a:rPr>
              <a:t>Ask</a:t>
            </a:r>
            <a:endParaRPr lang="en-US" sz="1800" dirty="0"/>
          </a:p>
        </p:txBody>
      </p:sp>
      <p:sp>
        <p:nvSpPr>
          <p:cNvPr id="23" name="Text 21"/>
          <p:cNvSpPr txBox="1"/>
          <p:nvPr/>
        </p:nvSpPr>
        <p:spPr>
          <a:xfrm>
            <a:off x="6995160" y="2743200"/>
            <a:ext cx="1508760" cy="1463040"/>
          </a:xfrm>
          <a:prstGeom prst="rect">
            <a:avLst/>
          </a:prstGeom>
          <a:noFill/>
          <a:ln/>
        </p:spPr>
        <p:txBody>
          <a:bodyPr wrap="square" lIns="0" tIns="0" rIns="0" bIns="0" rtlCol="0" anchor="t"/>
          <a:lstStyle/>
          <a:p>
            <a:pPr indent="0" marL="0">
              <a:buNone/>
            </a:pPr>
            <a:r>
              <a:rPr lang="en-US" sz="1300" dirty="0">
                <a:solidFill>
                  <a:schemeClr val="accent4"/>
                </a:solidFill>
              </a:rPr>
              <a:t>$3-5M Series A for PSP integrations, regulatory engagement and enterprise go-to-market.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WHY NOW</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Autonomous systems are reaching production</a:t>
            </a:r>
            <a:endParaRPr lang="en-US" sz="2800" dirty="0"/>
          </a:p>
        </p:txBody>
      </p:sp>
      <p:sp>
        <p:nvSpPr>
          <p:cNvPr id="4" name="Shape 2"/>
          <p:cNvSpPr/>
          <p:nvPr/>
        </p:nvSpPr>
        <p:spPr>
          <a:xfrm>
            <a:off x="457200" y="1508760"/>
            <a:ext cx="3977640" cy="2834640"/>
          </a:xfrm>
          <a:prstGeom prst="roundRect">
            <a:avLst>
              <a:gd name="adj" fmla="val 2581"/>
            </a:avLst>
          </a:prstGeom>
          <a:solidFill>
            <a:schemeClr val="bg2"/>
          </a:solidFill>
          <a:ln w="9525">
            <a:solidFill>
              <a:schemeClr val="bg2"/>
            </a:solidFill>
            <a:prstDash val="solid"/>
          </a:ln>
        </p:spPr>
      </p:sp>
      <p:sp>
        <p:nvSpPr>
          <p:cNvPr id="5" name="Text 3"/>
          <p:cNvSpPr txBox="1"/>
          <p:nvPr/>
        </p:nvSpPr>
        <p:spPr>
          <a:xfrm>
            <a:off x="731520" y="1737360"/>
            <a:ext cx="3474720" cy="365760"/>
          </a:xfrm>
          <a:prstGeom prst="rect">
            <a:avLst/>
          </a:prstGeom>
          <a:noFill/>
          <a:ln/>
        </p:spPr>
        <p:txBody>
          <a:bodyPr wrap="square" lIns="0" tIns="0" rIns="0" bIns="0" rtlCol="0" anchor="t"/>
          <a:lstStyle/>
          <a:p>
            <a:pPr indent="0" marL="0">
              <a:buNone/>
            </a:pPr>
            <a:r>
              <a:rPr lang="en-US" sz="1800" b="1" dirty="0">
                <a:solidFill>
                  <a:schemeClr val="tx2"/>
                </a:solidFill>
              </a:rPr>
              <a:t>Built for people</a:t>
            </a:r>
            <a:endParaRPr lang="en-US" sz="1800" dirty="0"/>
          </a:p>
        </p:txBody>
      </p:sp>
      <p:sp>
        <p:nvSpPr>
          <p:cNvPr id="6" name="Text 4"/>
          <p:cNvSpPr txBox="1"/>
          <p:nvPr/>
        </p:nvSpPr>
        <p:spPr>
          <a:xfrm>
            <a:off x="731520" y="2240280"/>
            <a:ext cx="3474720" cy="1920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Authorization designed around human operators</a:t>
            </a:r>
            <a:endParaRPr lang="en-US" sz="1500" dirty="0"/>
          </a:p>
          <a:p>
            <a:pPr marL="342900" indent="-342900">
              <a:spcAft>
                <a:spcPts val="1000"/>
              </a:spcAft>
              <a:buSzPct val="100000"/>
              <a:buChar char="•"/>
            </a:pPr>
            <a:r>
              <a:rPr lang="en-US" sz="1500" dirty="0">
                <a:solidFill>
                  <a:schemeClr val="tx1"/>
                </a:solidFill>
              </a:rPr>
              <a:t>Approvals happen at human speed</a:t>
            </a:r>
            <a:endParaRPr lang="en-US" sz="1500" dirty="0"/>
          </a:p>
          <a:p>
            <a:pPr marL="342900" indent="-342900">
              <a:spcAft>
                <a:spcPts val="1000"/>
              </a:spcAft>
              <a:buSzPct val="100000"/>
              <a:buChar char="•"/>
            </a:pPr>
            <a:r>
              <a:rPr lang="en-US" sz="1500" dirty="0">
                <a:solidFill>
                  <a:schemeClr val="tx1"/>
                </a:solidFill>
              </a:rPr>
              <a:t>Logs explain what happened, after it happened</a:t>
            </a:r>
            <a:endParaRPr lang="en-US" sz="1500" dirty="0"/>
          </a:p>
        </p:txBody>
      </p:sp>
      <p:sp>
        <p:nvSpPr>
          <p:cNvPr id="7" name="Shape 5"/>
          <p:cNvSpPr/>
          <p:nvPr/>
        </p:nvSpPr>
        <p:spPr>
          <a:xfrm>
            <a:off x="4709160" y="1508760"/>
            <a:ext cx="3977640" cy="2834640"/>
          </a:xfrm>
          <a:prstGeom prst="roundRect">
            <a:avLst>
              <a:gd name="adj" fmla="val 2581"/>
            </a:avLst>
          </a:prstGeom>
          <a:solidFill>
            <a:schemeClr val="tx1"/>
          </a:solidFill>
          <a:ln w="9525">
            <a:solidFill>
              <a:schemeClr val="tx1"/>
            </a:solidFill>
            <a:prstDash val="solid"/>
          </a:ln>
        </p:spPr>
      </p:sp>
      <p:sp>
        <p:nvSpPr>
          <p:cNvPr id="8" name="Text 6"/>
          <p:cNvSpPr txBox="1"/>
          <p:nvPr/>
        </p:nvSpPr>
        <p:spPr>
          <a:xfrm>
            <a:off x="4983480" y="1737360"/>
            <a:ext cx="3566160" cy="365760"/>
          </a:xfrm>
          <a:prstGeom prst="rect">
            <a:avLst/>
          </a:prstGeom>
          <a:noFill/>
          <a:ln/>
        </p:spPr>
        <p:txBody>
          <a:bodyPr wrap="square" lIns="0" tIns="0" rIns="0" bIns="0" rtlCol="0" anchor="t"/>
          <a:lstStyle/>
          <a:p>
            <a:pPr indent="0" marL="0">
              <a:buNone/>
            </a:pPr>
            <a:r>
              <a:rPr lang="en-US" sz="1800" b="1" dirty="0">
                <a:solidFill>
                  <a:schemeClr val="bg1"/>
                </a:solidFill>
              </a:rPr>
              <a:t>Requested by autonomous systems</a:t>
            </a:r>
            <a:endParaRPr lang="en-US" sz="1800" dirty="0"/>
          </a:p>
        </p:txBody>
      </p:sp>
      <p:sp>
        <p:nvSpPr>
          <p:cNvPr id="9" name="Text 7"/>
          <p:cNvSpPr txBox="1"/>
          <p:nvPr/>
        </p:nvSpPr>
        <p:spPr>
          <a:xfrm>
            <a:off x="4983480" y="2240280"/>
            <a:ext cx="3474720" cy="1920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Refunds, payments, purchase orders, record changes, code merges</a:t>
            </a:r>
            <a:endParaRPr lang="en-US" sz="1500" dirty="0"/>
          </a:p>
          <a:p>
            <a:pPr marL="342900" indent="-342900">
              <a:spcAft>
                <a:spcPts val="1000"/>
              </a:spcAft>
              <a:buSzPct val="100000"/>
              <a:buChar char="•"/>
            </a:pPr>
            <a:r>
              <a:rPr lang="en-US" sz="1500" dirty="0">
                <a:solidFill>
                  <a:schemeClr val="bg1"/>
                </a:solidFill>
              </a:rPr>
              <a:t>Requests at machine speed and scale</a:t>
            </a:r>
            <a:endParaRPr lang="en-US" sz="1500" dirty="0"/>
          </a:p>
          <a:p>
            <a:pPr marL="342900" indent="-342900">
              <a:spcAft>
                <a:spcPts val="1000"/>
              </a:spcAft>
              <a:buSzPct val="100000"/>
              <a:buChar char="•"/>
            </a:pPr>
            <a:r>
              <a:rPr lang="en-US" sz="1500" dirty="0">
                <a:solidFill>
                  <a:schemeClr val="bg1"/>
                </a:solidFill>
              </a:rPr>
              <a:t>The business still holds the authority, and still carries the liability</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THE PROBLEM</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Rules live on paper. Execution happens in code.</a:t>
            </a:r>
            <a:endParaRPr lang="en-US" sz="2800" dirty="0"/>
          </a:p>
        </p:txBody>
      </p:sp>
      <p:sp>
        <p:nvSpPr>
          <p:cNvPr id="4" name="incident"/>
          <p:cNvSpPr/>
          <p:nvPr/>
        </p:nvSpPr>
        <p:spPr>
          <a:xfrm>
            <a:off x="457200" y="1508760"/>
            <a:ext cx="4754880" cy="2834640"/>
          </a:xfrm>
          <a:prstGeom prst="roundRect">
            <a:avLst>
              <a:gd name="adj" fmla="val 2581"/>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Text 3"/>
          <p:cNvSpPr txBox="1"/>
          <p:nvPr/>
        </p:nvSpPr>
        <p:spPr>
          <a:xfrm>
            <a:off x="731520" y="1737360"/>
            <a:ext cx="4206240" cy="274320"/>
          </a:xfrm>
          <a:prstGeom prst="rect">
            <a:avLst/>
          </a:prstGeom>
          <a:noFill/>
          <a:ln/>
        </p:spPr>
        <p:txBody>
          <a:bodyPr wrap="square" lIns="0" tIns="0" rIns="0" bIns="0" rtlCol="0" anchor="t"/>
          <a:lstStyle/>
          <a:p>
            <a:pPr indent="0" marL="0">
              <a:buNone/>
            </a:pPr>
            <a:r>
              <a:rPr lang="en-US" sz="1000" b="1" spc="200" kern="0" dirty="0">
                <a:solidFill>
                  <a:schemeClr val="tx2"/>
                </a:solidFill>
              </a:rPr>
              <a:t>A REAL CONVERSATION WITH A BUILDER</a:t>
            </a:r>
            <a:endParaRPr lang="en-US" sz="1000" dirty="0"/>
          </a:p>
        </p:txBody>
      </p:sp>
      <p:sp>
        <p:nvSpPr>
          <p:cNvPr id="6" name="Text 4"/>
          <p:cNvSpPr txBox="1"/>
          <p:nvPr/>
        </p:nvSpPr>
        <p:spPr>
          <a:xfrm>
            <a:off x="731520" y="2103120"/>
            <a:ext cx="420624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Rule: no refund over ₹10,000 without human review. In place for two years.</a:t>
            </a:r>
            <a:endParaRPr lang="en-US" sz="1400" dirty="0"/>
          </a:p>
          <a:p>
            <a:pPr marL="342900" indent="-342900">
              <a:spcAft>
                <a:spcPts val="800"/>
              </a:spcAft>
              <a:buSzPct val="100000"/>
              <a:buChar char="•"/>
            </a:pPr>
            <a:r>
              <a:rPr lang="en-US" sz="1400" dirty="0">
                <a:solidFill>
                  <a:schemeClr val="tx1"/>
                </a:solidFill>
              </a:rPr>
              <a:t>An agent requested a ₹15,000 refund it judged legitimate, and the refund went through.</a:t>
            </a:r>
            <a:endParaRPr lang="en-US" sz="1400" dirty="0"/>
          </a:p>
          <a:p>
            <a:pPr marL="342900" indent="-342900">
              <a:spcAft>
                <a:spcPts val="800"/>
              </a:spcAft>
              <a:buSzPct val="100000"/>
              <a:buChar char="•"/>
            </a:pPr>
            <a:r>
              <a:rPr lang="en-US" sz="1400" dirty="0">
                <a:solidFill>
                  <a:schemeClr val="tx1"/>
                </a:solidFill>
              </a:rPr>
              <a:t>Not malicious. Not hacked. Nothing enforced the rule at execution.</a:t>
            </a:r>
            <a:endParaRPr lang="en-US" sz="1400" dirty="0"/>
          </a:p>
          <a:p>
            <a:pPr marL="342900" indent="-342900">
              <a:spcAft>
                <a:spcPts val="800"/>
              </a:spcAft>
              <a:buSzPct val="100000"/>
              <a:buChar char="•"/>
            </a:pPr>
            <a:r>
              <a:rPr lang="en-US" sz="1400" dirty="0">
                <a:solidFill>
                  <a:schemeClr val="tx1"/>
                </a:solidFill>
              </a:rPr>
              <a:t>Connecting the rule to what ran took days of log analysis.</a:t>
            </a:r>
            <a:endParaRPr lang="en-US" sz="1400" dirty="0"/>
          </a:p>
        </p:txBody>
      </p:sp>
      <p:sp>
        <p:nvSpPr>
          <p:cNvPr id="7" name="Shape 5"/>
          <p:cNvSpPr/>
          <p:nvPr/>
        </p:nvSpPr>
        <p:spPr>
          <a:xfrm>
            <a:off x="5486400" y="1508760"/>
            <a:ext cx="3200400" cy="1325880"/>
          </a:xfrm>
          <a:prstGeom prst="roundRect">
            <a:avLst>
              <a:gd name="adj" fmla="val 5517"/>
            </a:avLst>
          </a:prstGeom>
          <a:solidFill>
            <a:schemeClr val="bg2"/>
          </a:solidFill>
          <a:ln w="9525">
            <a:solidFill>
              <a:schemeClr val="bg2"/>
            </a:solidFill>
            <a:prstDash val="solid"/>
          </a:ln>
        </p:spPr>
      </p:sp>
      <p:sp>
        <p:nvSpPr>
          <p:cNvPr id="8" name="Text 6"/>
          <p:cNvSpPr txBox="1"/>
          <p:nvPr/>
        </p:nvSpPr>
        <p:spPr>
          <a:xfrm>
            <a:off x="5715000" y="1508760"/>
            <a:ext cx="2743200" cy="1325880"/>
          </a:xfrm>
          <a:prstGeom prst="rect">
            <a:avLst/>
          </a:prstGeom>
          <a:noFill/>
          <a:ln/>
        </p:spPr>
        <p:txBody>
          <a:bodyPr wrap="square" lIns="0" tIns="0" rIns="0" bIns="0" rtlCol="0" anchor="ctr"/>
          <a:lstStyle/>
          <a:p>
            <a:pPr indent="0" marL="0">
              <a:buNone/>
            </a:pPr>
            <a:r>
              <a:rPr lang="en-US" sz="2000" b="1" dirty="0">
                <a:solidFill>
                  <a:schemeClr val="tx1"/>
                </a:solidFill>
              </a:rPr>
              <a:t>Was this action allowed?</a:t>
            </a:r>
            <a:endParaRPr lang="en-US" sz="2000" dirty="0"/>
          </a:p>
        </p:txBody>
      </p:sp>
      <p:sp>
        <p:nvSpPr>
          <p:cNvPr id="9" name="Shape 7"/>
          <p:cNvSpPr/>
          <p:nvPr/>
        </p:nvSpPr>
        <p:spPr>
          <a:xfrm>
            <a:off x="5486400" y="2971800"/>
            <a:ext cx="3200400" cy="1325880"/>
          </a:xfrm>
          <a:prstGeom prst="roundRect">
            <a:avLst>
              <a:gd name="adj" fmla="val 5517"/>
            </a:avLst>
          </a:prstGeom>
          <a:solidFill>
            <a:schemeClr val="bg2"/>
          </a:solidFill>
          <a:ln w="9525">
            <a:solidFill>
              <a:schemeClr val="bg2"/>
            </a:solidFill>
            <a:prstDash val="solid"/>
          </a:ln>
        </p:spPr>
      </p:sp>
      <p:sp>
        <p:nvSpPr>
          <p:cNvPr id="10" name="Text 8"/>
          <p:cNvSpPr txBox="1"/>
          <p:nvPr/>
        </p:nvSpPr>
        <p:spPr>
          <a:xfrm>
            <a:off x="5715000" y="2971800"/>
            <a:ext cx="2743200" cy="1325880"/>
          </a:xfrm>
          <a:prstGeom prst="rect">
            <a:avLst/>
          </a:prstGeom>
          <a:noFill/>
          <a:ln/>
        </p:spPr>
        <p:txBody>
          <a:bodyPr wrap="square" lIns="0" tIns="0" rIns="0" bIns="0" rtlCol="0" anchor="ctr"/>
          <a:lstStyle/>
          <a:p>
            <a:pPr indent="0" marL="0">
              <a:buNone/>
            </a:pPr>
            <a:r>
              <a:rPr lang="en-US" sz="2000" b="1" dirty="0">
                <a:solidFill>
                  <a:schemeClr val="tx1"/>
                </a:solidFill>
              </a:rPr>
              <a:t>Can you prove what was authorized?</a:t>
            </a:r>
            <a:endParaRPr lang="en-US" sz="2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WHAT PARMANA DOES</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Ready. Enforced. Proven.</a:t>
            </a:r>
            <a:endParaRPr lang="en-US" sz="2800" dirty="0"/>
          </a:p>
        </p:txBody>
      </p:sp>
      <p:sp>
        <p:nvSpPr>
          <p:cNvPr id="4" name="pillar-READY"/>
          <p:cNvSpPr/>
          <p:nvPr/>
        </p:nvSpPr>
        <p:spPr>
          <a:xfrm>
            <a:off x="457200" y="1508760"/>
            <a:ext cx="2606040" cy="2880360"/>
          </a:xfrm>
          <a:prstGeom prst="roundRect">
            <a:avLst>
              <a:gd name="adj" fmla="val 280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Shape 3"/>
          <p:cNvSpPr/>
          <p:nvPr/>
        </p:nvSpPr>
        <p:spPr>
          <a:xfrm>
            <a:off x="731520" y="17830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3152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1234440" y="1856232"/>
            <a:ext cx="1645920" cy="274320"/>
          </a:xfrm>
          <a:prstGeom prst="rect">
            <a:avLst/>
          </a:prstGeom>
          <a:noFill/>
          <a:ln/>
        </p:spPr>
        <p:txBody>
          <a:bodyPr wrap="square" lIns="0" tIns="0" rIns="0" bIns="0" rtlCol="0" anchor="t"/>
          <a:lstStyle/>
          <a:p>
            <a:pPr indent="0" marL="0">
              <a:buNone/>
            </a:pPr>
            <a:r>
              <a:rPr lang="en-US" sz="1100" b="1" spc="300" kern="0" dirty="0">
                <a:solidFill>
                  <a:schemeClr val="tx2"/>
                </a:solidFill>
              </a:rPr>
              <a:t>READY</a:t>
            </a:r>
            <a:endParaRPr lang="en-US" sz="1100" dirty="0"/>
          </a:p>
        </p:txBody>
      </p:sp>
      <p:sp>
        <p:nvSpPr>
          <p:cNvPr id="8" name="Text 6"/>
          <p:cNvSpPr txBox="1"/>
          <p:nvPr/>
        </p:nvSpPr>
        <p:spPr>
          <a:xfrm>
            <a:off x="731520" y="2331720"/>
            <a:ext cx="2057400" cy="822960"/>
          </a:xfrm>
          <a:prstGeom prst="rect">
            <a:avLst/>
          </a:prstGeom>
          <a:noFill/>
          <a:ln/>
        </p:spPr>
        <p:txBody>
          <a:bodyPr wrap="square" lIns="0" tIns="0" rIns="0" bIns="0" rtlCol="0" anchor="t"/>
          <a:lstStyle/>
          <a:p>
            <a:pPr indent="0" marL="0">
              <a:buNone/>
            </a:pPr>
            <a:r>
              <a:rPr lang="en-US" sz="1500" b="1" dirty="0">
                <a:solidFill>
                  <a:schemeClr val="tx1"/>
                </a:solidFill>
              </a:rPr>
              <a:t>Make existing systems ready for autonomy</a:t>
            </a:r>
            <a:endParaRPr lang="en-US" sz="1500" dirty="0"/>
          </a:p>
        </p:txBody>
      </p:sp>
      <p:sp>
        <p:nvSpPr>
          <p:cNvPr id="9" name="Text 7"/>
          <p:cNvSpPr txBox="1"/>
          <p:nvPr/>
        </p:nvSpPr>
        <p:spPr>
          <a:xfrm>
            <a:off x="731520" y="3200400"/>
            <a:ext cx="2057400" cy="685800"/>
          </a:xfrm>
          <a:prstGeom prst="rect">
            <a:avLst/>
          </a:prstGeom>
          <a:noFill/>
          <a:ln/>
        </p:spPr>
        <p:txBody>
          <a:bodyPr wrap="square" lIns="0" tIns="0" rIns="0" bIns="0" rtlCol="0" anchor="t"/>
          <a:lstStyle/>
          <a:p>
            <a:pPr indent="0" marL="0">
              <a:buNone/>
            </a:pPr>
            <a:r>
              <a:rPr lang="en-US" sz="1200" dirty="0">
                <a:solidFill>
                  <a:schemeClr val="accent4"/>
                </a:solidFill>
              </a:rPr>
              <a:t>Keep payments, CRM and internal APIs. Parmana sits in front of them.</a:t>
            </a:r>
            <a:endParaRPr lang="en-US" sz="1200" dirty="0"/>
          </a:p>
        </p:txBody>
      </p:sp>
      <p:sp>
        <p:nvSpPr>
          <p:cNvPr id="10" name="Text 8"/>
          <p:cNvSpPr txBox="1"/>
          <p:nvPr/>
        </p:nvSpPr>
        <p:spPr>
          <a:xfrm>
            <a:off x="731520" y="3886200"/>
            <a:ext cx="2057400" cy="411480"/>
          </a:xfrm>
          <a:prstGeom prst="rect">
            <a:avLst/>
          </a:prstGeom>
          <a:noFill/>
          <a:ln/>
        </p:spPr>
        <p:txBody>
          <a:bodyPr wrap="square" lIns="0" tIns="0" rIns="0" bIns="0" rtlCol="0" anchor="t"/>
          <a:lstStyle/>
          <a:p>
            <a:pPr indent="0" marL="0">
              <a:buNone/>
            </a:pPr>
            <a:r>
              <a:rPr lang="en-US" sz="1300" b="1" dirty="0">
                <a:solidFill>
                  <a:schemeClr val="tx2"/>
                </a:solidFill>
              </a:rPr>
              <a:t>No rebuild.</a:t>
            </a:r>
            <a:endParaRPr lang="en-US" sz="1300" dirty="0"/>
          </a:p>
        </p:txBody>
      </p:sp>
      <p:sp>
        <p:nvSpPr>
          <p:cNvPr id="11" name="pillar-ENFORCE"/>
          <p:cNvSpPr/>
          <p:nvPr/>
        </p:nvSpPr>
        <p:spPr>
          <a:xfrm>
            <a:off x="3268980" y="1508760"/>
            <a:ext cx="2606040" cy="2880360"/>
          </a:xfrm>
          <a:prstGeom prst="roundRect">
            <a:avLst>
              <a:gd name="adj" fmla="val 280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2" name="Shape 10"/>
          <p:cNvSpPr/>
          <p:nvPr/>
        </p:nvSpPr>
        <p:spPr>
          <a:xfrm>
            <a:off x="3543300" y="178308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354330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2"/>
          <p:cNvSpPr txBox="1"/>
          <p:nvPr/>
        </p:nvSpPr>
        <p:spPr>
          <a:xfrm>
            <a:off x="4046220" y="1856232"/>
            <a:ext cx="1645920" cy="274320"/>
          </a:xfrm>
          <a:prstGeom prst="rect">
            <a:avLst/>
          </a:prstGeom>
          <a:noFill/>
          <a:ln/>
        </p:spPr>
        <p:txBody>
          <a:bodyPr wrap="square" lIns="0" tIns="0" rIns="0" bIns="0" rtlCol="0" anchor="t"/>
          <a:lstStyle/>
          <a:p>
            <a:pPr indent="0" marL="0">
              <a:buNone/>
            </a:pPr>
            <a:r>
              <a:rPr lang="en-US" sz="1100" b="1" spc="300" kern="0" dirty="0">
                <a:solidFill>
                  <a:schemeClr val="tx2"/>
                </a:solidFill>
              </a:rPr>
              <a:t>ENFORCE</a:t>
            </a:r>
            <a:endParaRPr lang="en-US" sz="1100" dirty="0"/>
          </a:p>
        </p:txBody>
      </p:sp>
      <p:sp>
        <p:nvSpPr>
          <p:cNvPr id="15" name="Text 13"/>
          <p:cNvSpPr txBox="1"/>
          <p:nvPr/>
        </p:nvSpPr>
        <p:spPr>
          <a:xfrm>
            <a:off x="3543300" y="2331720"/>
            <a:ext cx="2057400" cy="822960"/>
          </a:xfrm>
          <a:prstGeom prst="rect">
            <a:avLst/>
          </a:prstGeom>
          <a:noFill/>
          <a:ln/>
        </p:spPr>
        <p:txBody>
          <a:bodyPr wrap="square" lIns="0" tIns="0" rIns="0" bIns="0" rtlCol="0" anchor="t"/>
          <a:lstStyle/>
          <a:p>
            <a:pPr indent="0" marL="0">
              <a:buNone/>
            </a:pPr>
            <a:r>
              <a:rPr lang="en-US" sz="1500" b="1" dirty="0">
                <a:solidFill>
                  <a:schemeClr val="tx1"/>
                </a:solidFill>
              </a:rPr>
              <a:t>Enforce business authority over autonomous actions</a:t>
            </a:r>
            <a:endParaRPr lang="en-US" sz="1500" dirty="0"/>
          </a:p>
        </p:txBody>
      </p:sp>
      <p:sp>
        <p:nvSpPr>
          <p:cNvPr id="16" name="Text 14"/>
          <p:cNvSpPr txBox="1"/>
          <p:nvPr/>
        </p:nvSpPr>
        <p:spPr>
          <a:xfrm>
            <a:off x="3543300" y="3200400"/>
            <a:ext cx="2057400" cy="685800"/>
          </a:xfrm>
          <a:prstGeom prst="rect">
            <a:avLst/>
          </a:prstGeom>
          <a:noFill/>
          <a:ln/>
        </p:spPr>
        <p:txBody>
          <a:bodyPr wrap="square" lIns="0" tIns="0" rIns="0" bIns="0" rtlCol="0" anchor="t"/>
          <a:lstStyle/>
          <a:p>
            <a:pPr indent="0" marL="0">
              <a:buNone/>
            </a:pPr>
            <a:r>
              <a:rPr lang="en-US" sz="1200" dirty="0">
                <a:solidFill>
                  <a:schemeClr val="accent4"/>
                </a:solidFill>
              </a:rPr>
              <a:t>Business rules become the boundary every routed request is checked against.</a:t>
            </a:r>
            <a:endParaRPr lang="en-US" sz="1200" dirty="0"/>
          </a:p>
        </p:txBody>
      </p:sp>
      <p:sp>
        <p:nvSpPr>
          <p:cNvPr id="17" name="Text 15"/>
          <p:cNvSpPr txBox="1"/>
          <p:nvPr/>
        </p:nvSpPr>
        <p:spPr>
          <a:xfrm>
            <a:off x="3543300" y="3886200"/>
            <a:ext cx="2057400" cy="411480"/>
          </a:xfrm>
          <a:prstGeom prst="rect">
            <a:avLst/>
          </a:prstGeom>
          <a:noFill/>
          <a:ln/>
        </p:spPr>
        <p:txBody>
          <a:bodyPr wrap="square" lIns="0" tIns="0" rIns="0" bIns="0" rtlCol="0" anchor="t"/>
          <a:lstStyle/>
          <a:p>
            <a:pPr indent="0" marL="0">
              <a:buNone/>
            </a:pPr>
            <a:r>
              <a:rPr lang="en-US" sz="1300" b="1" dirty="0">
                <a:solidFill>
                  <a:schemeClr val="tx2"/>
                </a:solidFill>
              </a:rPr>
              <a:t>Allowed proceeds. Outside authority stops.</a:t>
            </a:r>
            <a:endParaRPr lang="en-US" sz="1300" dirty="0"/>
          </a:p>
        </p:txBody>
      </p:sp>
      <p:sp>
        <p:nvSpPr>
          <p:cNvPr id="18" name="pillar-PROVE"/>
          <p:cNvSpPr/>
          <p:nvPr/>
        </p:nvSpPr>
        <p:spPr>
          <a:xfrm>
            <a:off x="6080760" y="1508760"/>
            <a:ext cx="2606040" cy="2880360"/>
          </a:xfrm>
          <a:prstGeom prst="roundRect">
            <a:avLst>
              <a:gd name="adj" fmla="val 280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9" name="Shape 17"/>
          <p:cNvSpPr/>
          <p:nvPr/>
        </p:nvSpPr>
        <p:spPr>
          <a:xfrm>
            <a:off x="6355080" y="1783080"/>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635508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9"/>
          <p:cNvSpPr txBox="1"/>
          <p:nvPr/>
        </p:nvSpPr>
        <p:spPr>
          <a:xfrm>
            <a:off x="6858000" y="1856232"/>
            <a:ext cx="1645920" cy="274320"/>
          </a:xfrm>
          <a:prstGeom prst="rect">
            <a:avLst/>
          </a:prstGeom>
          <a:noFill/>
          <a:ln/>
        </p:spPr>
        <p:txBody>
          <a:bodyPr wrap="square" lIns="0" tIns="0" rIns="0" bIns="0" rtlCol="0" anchor="t"/>
          <a:lstStyle/>
          <a:p>
            <a:pPr indent="0" marL="0">
              <a:buNone/>
            </a:pPr>
            <a:r>
              <a:rPr lang="en-US" sz="1100" b="1" spc="300" kern="0" dirty="0">
                <a:solidFill>
                  <a:schemeClr val="tx2"/>
                </a:solidFill>
              </a:rPr>
              <a:t>PROVE</a:t>
            </a:r>
            <a:endParaRPr lang="en-US" sz="1100" dirty="0"/>
          </a:p>
        </p:txBody>
      </p:sp>
      <p:sp>
        <p:nvSpPr>
          <p:cNvPr id="22" name="Text 20"/>
          <p:cNvSpPr txBox="1"/>
          <p:nvPr/>
        </p:nvSpPr>
        <p:spPr>
          <a:xfrm>
            <a:off x="6355080" y="2331720"/>
            <a:ext cx="2057400" cy="822960"/>
          </a:xfrm>
          <a:prstGeom prst="rect">
            <a:avLst/>
          </a:prstGeom>
          <a:noFill/>
          <a:ln/>
        </p:spPr>
        <p:txBody>
          <a:bodyPr wrap="square" lIns="0" tIns="0" rIns="0" bIns="0" rtlCol="0" anchor="t"/>
          <a:lstStyle/>
          <a:p>
            <a:pPr indent="0" marL="0">
              <a:buNone/>
            </a:pPr>
            <a:r>
              <a:rPr lang="en-US" sz="1500" b="1" dirty="0">
                <a:solidFill>
                  <a:schemeClr val="tx1"/>
                </a:solidFill>
              </a:rPr>
              <a:t>Provide independently verifiable evidence</a:t>
            </a:r>
            <a:endParaRPr lang="en-US" sz="1500" dirty="0"/>
          </a:p>
        </p:txBody>
      </p:sp>
      <p:sp>
        <p:nvSpPr>
          <p:cNvPr id="23" name="Text 21"/>
          <p:cNvSpPr txBox="1"/>
          <p:nvPr/>
        </p:nvSpPr>
        <p:spPr>
          <a:xfrm>
            <a:off x="6355080" y="3200400"/>
            <a:ext cx="2057400" cy="685800"/>
          </a:xfrm>
          <a:prstGeom prst="rect">
            <a:avLst/>
          </a:prstGeom>
          <a:noFill/>
          <a:ln/>
        </p:spPr>
        <p:txBody>
          <a:bodyPr wrap="square" lIns="0" tIns="0" rIns="0" bIns="0" rtlCol="0" anchor="t"/>
          <a:lstStyle/>
          <a:p>
            <a:pPr indent="0" marL="0">
              <a:buNone/>
            </a:pPr>
            <a:r>
              <a:rPr lang="en-US" sz="1200" dirty="0">
                <a:solidFill>
                  <a:schemeClr val="accent4"/>
                </a:solidFill>
              </a:rPr>
              <a:t>What was requested, what authority applied, what happened.</a:t>
            </a:r>
            <a:endParaRPr lang="en-US" sz="1200" dirty="0"/>
          </a:p>
        </p:txBody>
      </p:sp>
      <p:sp>
        <p:nvSpPr>
          <p:cNvPr id="24" name="Text 22"/>
          <p:cNvSpPr txBox="1"/>
          <p:nvPr/>
        </p:nvSpPr>
        <p:spPr>
          <a:xfrm>
            <a:off x="6355080" y="3886200"/>
            <a:ext cx="2057400" cy="411480"/>
          </a:xfrm>
          <a:prstGeom prst="rect">
            <a:avLst/>
          </a:prstGeom>
          <a:noFill/>
          <a:ln/>
        </p:spPr>
        <p:txBody>
          <a:bodyPr wrap="square" lIns="0" tIns="0" rIns="0" bIns="0" rtlCol="0" anchor="t"/>
          <a:lstStyle/>
          <a:p>
            <a:pPr indent="0" marL="0">
              <a:buNone/>
            </a:pPr>
            <a:r>
              <a:rPr lang="en-US" sz="1300" b="1" dirty="0">
                <a:solidFill>
                  <a:schemeClr val="tx2"/>
                </a:solidFill>
              </a:rPr>
              <a:t>Proof beyond the system that produced it.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HOW IT WORKS</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Your systems stay. Your authority stays.</a:t>
            </a:r>
            <a:endParaRPr lang="en-US" sz="2800" dirty="0"/>
          </a:p>
        </p:txBody>
      </p:sp>
      <p:sp>
        <p:nvSpPr>
          <p:cNvPr id="4" name="node-0"/>
          <p:cNvSpPr/>
          <p:nvPr/>
        </p:nvSpPr>
        <p:spPr>
          <a:xfrm>
            <a:off x="457200" y="1737360"/>
            <a:ext cx="1783080" cy="1188720"/>
          </a:xfrm>
          <a:prstGeom prst="roundRect">
            <a:avLst>
              <a:gd name="adj" fmla="val 6154"/>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Text 3"/>
          <p:cNvSpPr txBox="1"/>
          <p:nvPr/>
        </p:nvSpPr>
        <p:spPr>
          <a:xfrm>
            <a:off x="640080" y="1938528"/>
            <a:ext cx="1417320" cy="365760"/>
          </a:xfrm>
          <a:prstGeom prst="rect">
            <a:avLst/>
          </a:prstGeom>
          <a:noFill/>
          <a:ln/>
        </p:spPr>
        <p:txBody>
          <a:bodyPr wrap="square" lIns="0" tIns="0" rIns="0" bIns="0" rtlCol="0" anchor="t">
            <a:normAutofit/>
          </a:bodyPr>
          <a:lstStyle/>
          <a:p>
            <a:pPr indent="0" marL="0">
              <a:buNone/>
            </a:pPr>
            <a:r>
              <a:rPr lang="en-US" sz="1400" b="1" dirty="0">
                <a:solidFill>
                  <a:schemeClr val="tx1"/>
                </a:solidFill>
              </a:rPr>
              <a:t>AI agent</a:t>
            </a:r>
            <a:endParaRPr lang="en-US" sz="1400" dirty="0"/>
          </a:p>
        </p:txBody>
      </p:sp>
      <p:sp>
        <p:nvSpPr>
          <p:cNvPr id="6" name="Text 4"/>
          <p:cNvSpPr txBox="1"/>
          <p:nvPr/>
        </p:nvSpPr>
        <p:spPr>
          <a:xfrm>
            <a:off x="640080" y="2395728"/>
            <a:ext cx="1417320" cy="411480"/>
          </a:xfrm>
          <a:prstGeom prst="rect">
            <a:avLst/>
          </a:prstGeom>
          <a:noFill/>
          <a:ln/>
        </p:spPr>
        <p:txBody>
          <a:bodyPr wrap="square" lIns="0" tIns="0" rIns="0" bIns="0" rtlCol="0" anchor="t"/>
          <a:lstStyle/>
          <a:p>
            <a:pPr indent="0" marL="0">
              <a:buNone/>
            </a:pPr>
            <a:r>
              <a:rPr lang="en-US" sz="1200" dirty="0">
                <a:solidFill>
                  <a:schemeClr val="accent4"/>
                </a:solidFill>
              </a:rPr>
              <a:t>Requests an action</a:t>
            </a:r>
            <a:endParaRPr lang="en-US" sz="1200" dirty="0"/>
          </a:p>
        </p:txBody>
      </p:sp>
      <p:sp>
        <p:nvSpPr>
          <p:cNvPr id="7" name="Shape 5"/>
          <p:cNvSpPr/>
          <p:nvPr/>
        </p:nvSpPr>
        <p:spPr>
          <a:xfrm>
            <a:off x="2286000" y="2331720"/>
            <a:ext cx="274320" cy="0"/>
          </a:xfrm>
          <a:prstGeom prst="line">
            <a:avLst/>
          </a:prstGeom>
          <a:noFill/>
          <a:ln w="19050">
            <a:solidFill>
              <a:schemeClr val="accent1"/>
            </a:solidFill>
            <a:prstDash val="solid"/>
            <a:tailEnd type="triangle"/>
          </a:ln>
        </p:spPr>
      </p:sp>
      <p:sp>
        <p:nvSpPr>
          <p:cNvPr id="8" name="node-1"/>
          <p:cNvSpPr/>
          <p:nvPr/>
        </p:nvSpPr>
        <p:spPr>
          <a:xfrm>
            <a:off x="2606040" y="1737360"/>
            <a:ext cx="1783080" cy="1188720"/>
          </a:xfrm>
          <a:prstGeom prst="roundRect">
            <a:avLst>
              <a:gd name="adj" fmla="val 6154"/>
            </a:avLst>
          </a:prstGeom>
          <a:solidFill>
            <a:schemeClr val="tx1"/>
          </a:solidFill>
          <a:ln w="9525">
            <a:solidFill>
              <a:schemeClr val="tx1"/>
            </a:solidFill>
            <a:prstDash val="solid"/>
          </a:ln>
        </p:spPr>
      </p:sp>
      <p:sp>
        <p:nvSpPr>
          <p:cNvPr id="9" name="Text 7"/>
          <p:cNvSpPr txBox="1"/>
          <p:nvPr/>
        </p:nvSpPr>
        <p:spPr>
          <a:xfrm>
            <a:off x="2788920" y="1938528"/>
            <a:ext cx="1417320" cy="365760"/>
          </a:xfrm>
          <a:prstGeom prst="rect">
            <a:avLst/>
          </a:prstGeom>
          <a:noFill/>
          <a:ln/>
        </p:spPr>
        <p:txBody>
          <a:bodyPr wrap="square" lIns="0" tIns="0" rIns="0" bIns="0" rtlCol="0" anchor="t">
            <a:normAutofit/>
          </a:bodyPr>
          <a:lstStyle/>
          <a:p>
            <a:pPr indent="0" marL="0">
              <a:buNone/>
            </a:pPr>
            <a:r>
              <a:rPr lang="en-US" sz="1400" b="1" dirty="0">
                <a:solidFill>
                  <a:schemeClr val="bg1"/>
                </a:solidFill>
              </a:rPr>
              <a:t>Parmana</a:t>
            </a:r>
            <a:endParaRPr lang="en-US" sz="1400" dirty="0"/>
          </a:p>
        </p:txBody>
      </p:sp>
      <p:sp>
        <p:nvSpPr>
          <p:cNvPr id="10" name="Text 8"/>
          <p:cNvSpPr txBox="1"/>
          <p:nvPr/>
        </p:nvSpPr>
        <p:spPr>
          <a:xfrm>
            <a:off x="2788920" y="2395728"/>
            <a:ext cx="1417320" cy="411480"/>
          </a:xfrm>
          <a:prstGeom prst="rect">
            <a:avLst/>
          </a:prstGeom>
          <a:noFill/>
          <a:ln/>
        </p:spPr>
        <p:txBody>
          <a:bodyPr wrap="square" lIns="0" tIns="0" rIns="0" bIns="0" rtlCol="0" anchor="t"/>
          <a:lstStyle/>
          <a:p>
            <a:pPr indent="0" marL="0">
              <a:buNone/>
            </a:pPr>
            <a:r>
              <a:rPr lang="en-US" sz="1200" dirty="0">
                <a:solidFill>
                  <a:schemeClr val="accent5"/>
                </a:solidFill>
              </a:rPr>
              <a:t>Checks business authority</a:t>
            </a:r>
            <a:endParaRPr lang="en-US" sz="1200" dirty="0"/>
          </a:p>
        </p:txBody>
      </p:sp>
      <p:sp>
        <p:nvSpPr>
          <p:cNvPr id="11" name="Shape 9"/>
          <p:cNvSpPr/>
          <p:nvPr/>
        </p:nvSpPr>
        <p:spPr>
          <a:xfrm>
            <a:off x="4434840" y="2331720"/>
            <a:ext cx="274320" cy="0"/>
          </a:xfrm>
          <a:prstGeom prst="line">
            <a:avLst/>
          </a:prstGeom>
          <a:noFill/>
          <a:ln w="19050">
            <a:solidFill>
              <a:schemeClr val="accent1"/>
            </a:solidFill>
            <a:prstDash val="solid"/>
            <a:tailEnd type="triangle"/>
          </a:ln>
        </p:spPr>
      </p:sp>
      <p:sp>
        <p:nvSpPr>
          <p:cNvPr id="12" name="node-2"/>
          <p:cNvSpPr/>
          <p:nvPr/>
        </p:nvSpPr>
        <p:spPr>
          <a:xfrm>
            <a:off x="4754880" y="1737360"/>
            <a:ext cx="1783080" cy="1188720"/>
          </a:xfrm>
          <a:prstGeom prst="roundRect">
            <a:avLst>
              <a:gd name="adj" fmla="val 6154"/>
            </a:avLst>
          </a:prstGeom>
          <a:solidFill>
            <a:schemeClr val="bg2"/>
          </a:solidFill>
          <a:ln w="9525">
            <a:solidFill>
              <a:schemeClr val="accent5"/>
            </a:solidFill>
            <a:prstDash val="solid"/>
          </a:ln>
        </p:spPr>
      </p:sp>
      <p:sp>
        <p:nvSpPr>
          <p:cNvPr id="13" name="Text 11"/>
          <p:cNvSpPr txBox="1"/>
          <p:nvPr/>
        </p:nvSpPr>
        <p:spPr>
          <a:xfrm>
            <a:off x="4937760" y="1938528"/>
            <a:ext cx="1417320" cy="365760"/>
          </a:xfrm>
          <a:prstGeom prst="rect">
            <a:avLst/>
          </a:prstGeom>
          <a:noFill/>
          <a:ln/>
        </p:spPr>
        <p:txBody>
          <a:bodyPr wrap="square" lIns="0" tIns="0" rIns="0" bIns="0" rtlCol="0" anchor="t">
            <a:normAutofit/>
          </a:bodyPr>
          <a:lstStyle/>
          <a:p>
            <a:pPr indent="0" marL="0">
              <a:buNone/>
            </a:pPr>
            <a:r>
              <a:rPr lang="en-US" sz="1400" b="1" dirty="0">
                <a:solidFill>
                  <a:schemeClr val="tx1"/>
                </a:solidFill>
              </a:rPr>
              <a:t>ALLOW / STOP</a:t>
            </a:r>
            <a:endParaRPr lang="en-US" sz="1400" dirty="0"/>
          </a:p>
        </p:txBody>
      </p:sp>
      <p:sp>
        <p:nvSpPr>
          <p:cNvPr id="14" name="Text 12"/>
          <p:cNvSpPr txBox="1"/>
          <p:nvPr/>
        </p:nvSpPr>
        <p:spPr>
          <a:xfrm>
            <a:off x="4937760" y="2395728"/>
            <a:ext cx="1417320" cy="411480"/>
          </a:xfrm>
          <a:prstGeom prst="rect">
            <a:avLst/>
          </a:prstGeom>
          <a:noFill/>
          <a:ln/>
        </p:spPr>
        <p:txBody>
          <a:bodyPr wrap="square" lIns="0" tIns="0" rIns="0" bIns="0" rtlCol="0" anchor="t"/>
          <a:lstStyle/>
          <a:p>
            <a:pPr indent="0" marL="0">
              <a:buNone/>
            </a:pPr>
            <a:r>
              <a:rPr lang="en-US" sz="1200" dirty="0">
                <a:solidFill>
                  <a:schemeClr val="accent4"/>
                </a:solidFill>
              </a:rPr>
              <a:t>Decided before execution</a:t>
            </a:r>
            <a:endParaRPr lang="en-US" sz="1200" dirty="0"/>
          </a:p>
        </p:txBody>
      </p:sp>
      <p:sp>
        <p:nvSpPr>
          <p:cNvPr id="15" name="Shape 13"/>
          <p:cNvSpPr/>
          <p:nvPr/>
        </p:nvSpPr>
        <p:spPr>
          <a:xfrm>
            <a:off x="6583680" y="2331720"/>
            <a:ext cx="274320" cy="0"/>
          </a:xfrm>
          <a:prstGeom prst="line">
            <a:avLst/>
          </a:prstGeom>
          <a:noFill/>
          <a:ln w="19050">
            <a:solidFill>
              <a:schemeClr val="accent1"/>
            </a:solidFill>
            <a:prstDash val="solid"/>
            <a:tailEnd type="triangle"/>
          </a:ln>
        </p:spPr>
      </p:sp>
      <p:sp>
        <p:nvSpPr>
          <p:cNvPr id="16" name="node-3"/>
          <p:cNvSpPr/>
          <p:nvPr/>
        </p:nvSpPr>
        <p:spPr>
          <a:xfrm>
            <a:off x="6903720" y="1737360"/>
            <a:ext cx="1783080" cy="1188720"/>
          </a:xfrm>
          <a:prstGeom prst="roundRect">
            <a:avLst>
              <a:gd name="adj" fmla="val 6154"/>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7" name="Text 15"/>
          <p:cNvSpPr txBox="1"/>
          <p:nvPr/>
        </p:nvSpPr>
        <p:spPr>
          <a:xfrm>
            <a:off x="7086600" y="1938528"/>
            <a:ext cx="1417320" cy="365760"/>
          </a:xfrm>
          <a:prstGeom prst="rect">
            <a:avLst/>
          </a:prstGeom>
          <a:noFill/>
          <a:ln/>
        </p:spPr>
        <p:txBody>
          <a:bodyPr wrap="square" lIns="0" tIns="0" rIns="0" bIns="0" rtlCol="0" anchor="t">
            <a:normAutofit/>
          </a:bodyPr>
          <a:lstStyle/>
          <a:p>
            <a:pPr indent="0" marL="0">
              <a:buNone/>
            </a:pPr>
            <a:r>
              <a:rPr lang="en-US" sz="1400" b="1" dirty="0">
                <a:solidFill>
                  <a:schemeClr val="tx1"/>
                </a:solidFill>
              </a:rPr>
              <a:t>Existing system</a:t>
            </a:r>
            <a:endParaRPr lang="en-US" sz="1400" dirty="0"/>
          </a:p>
        </p:txBody>
      </p:sp>
      <p:sp>
        <p:nvSpPr>
          <p:cNvPr id="18" name="Text 16"/>
          <p:cNvSpPr txBox="1"/>
          <p:nvPr/>
        </p:nvSpPr>
        <p:spPr>
          <a:xfrm>
            <a:off x="7086600" y="2395728"/>
            <a:ext cx="1417320" cy="411480"/>
          </a:xfrm>
          <a:prstGeom prst="rect">
            <a:avLst/>
          </a:prstGeom>
          <a:noFill/>
          <a:ln/>
        </p:spPr>
        <p:txBody>
          <a:bodyPr wrap="square" lIns="0" tIns="0" rIns="0" bIns="0" rtlCol="0" anchor="t"/>
          <a:lstStyle/>
          <a:p>
            <a:pPr indent="0" marL="0">
              <a:buNone/>
            </a:pPr>
            <a:r>
              <a:rPr lang="en-US" sz="1200" dirty="0">
                <a:solidFill>
                  <a:schemeClr val="accent4"/>
                </a:solidFill>
              </a:rPr>
              <a:t>Runs only what was allowed</a:t>
            </a:r>
            <a:endParaRPr lang="en-US" sz="1200" dirty="0"/>
          </a:p>
        </p:txBody>
      </p:sp>
      <p:sp>
        <p:nvSpPr>
          <p:cNvPr id="19" name="Shape 17"/>
          <p:cNvSpPr/>
          <p:nvPr/>
        </p:nvSpPr>
        <p:spPr>
          <a:xfrm>
            <a:off x="457200" y="3246120"/>
            <a:ext cx="8229600" cy="640080"/>
          </a:xfrm>
          <a:prstGeom prst="roundRect">
            <a:avLst>
              <a:gd name="adj" fmla="val 11429"/>
            </a:avLst>
          </a:prstGeom>
          <a:solidFill>
            <a:schemeClr val="bg1"/>
          </a:solidFill>
          <a:ln w="12700">
            <a:solidFill>
              <a:schemeClr val="accent1"/>
            </a:solidFill>
            <a:prstDash val="dash"/>
          </a:ln>
        </p:spPr>
      </p:sp>
      <p:sp>
        <p:nvSpPr>
          <p:cNvPr id="20" name="Text 18"/>
          <p:cNvSpPr txBox="1"/>
          <p:nvPr/>
        </p:nvSpPr>
        <p:spPr>
          <a:xfrm>
            <a:off x="731520" y="3246120"/>
            <a:ext cx="7680960" cy="640080"/>
          </a:xfrm>
          <a:prstGeom prst="rect">
            <a:avLst/>
          </a:prstGeom>
          <a:noFill/>
          <a:ln/>
        </p:spPr>
        <p:txBody>
          <a:bodyPr wrap="square" lIns="0" tIns="0" rIns="0" bIns="0" rtlCol="0" anchor="ctr"/>
          <a:lstStyle/>
          <a:p>
            <a:pPr indent="0" marL="0">
              <a:buNone/>
            </a:pPr>
            <a:r>
              <a:rPr lang="en-US" sz="1400" b="1" dirty="0">
                <a:solidFill>
                  <a:schemeClr val="tx2"/>
                </a:solidFill>
              </a:rPr>
              <a:t>Independent proof  </a:t>
            </a:r>
            <a:pPr indent="0" marL="0">
              <a:buNone/>
            </a:pPr>
            <a:r>
              <a:rPr lang="en-US" sz="1400" dirty="0">
                <a:solidFill>
                  <a:schemeClr val="tx1"/>
                </a:solidFill>
              </a:rPr>
              <a:t>of every decision, allowed or stopped. Signed, and verifiable offline without Parmana.</a:t>
            </a:r>
            <a:endParaRPr lang="en-US" sz="1400" dirty="0"/>
          </a:p>
        </p:txBody>
      </p:sp>
      <p:sp>
        <p:nvSpPr>
          <p:cNvPr id="21" name="Text 19"/>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200" dirty="0">
                <a:solidFill>
                  <a:schemeClr val="accent4"/>
                </a:solidFill>
              </a:rPr>
              <a:t>Parmana does not replace ERP, CRM, payment systems, IAM or AI models. It adds the authority check in front of execution.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EXAMPLE</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What happens when autonomy exceeds authority?</a:t>
            </a:r>
            <a:endParaRPr lang="en-US" sz="2800" dirty="0"/>
          </a:p>
        </p:txBody>
      </p:sp>
      <p:sp>
        <p:nvSpPr>
          <p:cNvPr id="4" name="example-request"/>
          <p:cNvSpPr/>
          <p:nvPr/>
        </p:nvSpPr>
        <p:spPr>
          <a:xfrm>
            <a:off x="457200" y="1508760"/>
            <a:ext cx="4023360" cy="2834640"/>
          </a:xfrm>
          <a:prstGeom prst="roundRect">
            <a:avLst>
              <a:gd name="adj" fmla="val 2581"/>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Text 3"/>
          <p:cNvSpPr txBox="1"/>
          <p:nvPr/>
        </p:nvSpPr>
        <p:spPr>
          <a:xfrm>
            <a:off x="777240" y="1737360"/>
            <a:ext cx="3383280" cy="274320"/>
          </a:xfrm>
          <a:prstGeom prst="rect">
            <a:avLst/>
          </a:prstGeom>
          <a:noFill/>
          <a:ln/>
        </p:spPr>
        <p:txBody>
          <a:bodyPr wrap="square" lIns="0" tIns="0" rIns="0" bIns="0" rtlCol="0" anchor="t"/>
          <a:lstStyle/>
          <a:p>
            <a:pPr indent="0" marL="0">
              <a:buNone/>
            </a:pPr>
            <a:r>
              <a:rPr lang="en-US" sz="1000" b="1" spc="200" kern="0" dirty="0">
                <a:solidFill>
                  <a:schemeClr val="accent4"/>
                </a:solidFill>
              </a:rPr>
              <a:t>BUSINESS RULE</a:t>
            </a:r>
            <a:endParaRPr lang="en-US" sz="1000" dirty="0"/>
          </a:p>
        </p:txBody>
      </p:sp>
      <p:sp>
        <p:nvSpPr>
          <p:cNvPr id="6" name="Text 4"/>
          <p:cNvSpPr txBox="1"/>
          <p:nvPr/>
        </p:nvSpPr>
        <p:spPr>
          <a:xfrm>
            <a:off x="777240" y="2011680"/>
            <a:ext cx="3383280" cy="457200"/>
          </a:xfrm>
          <a:prstGeom prst="rect">
            <a:avLst/>
          </a:prstGeom>
          <a:noFill/>
          <a:ln/>
        </p:spPr>
        <p:txBody>
          <a:bodyPr wrap="square" lIns="0" tIns="0" rIns="0" bIns="0" rtlCol="0" anchor="t"/>
          <a:lstStyle/>
          <a:p>
            <a:pPr indent="0" marL="0">
              <a:buNone/>
            </a:pPr>
            <a:r>
              <a:rPr lang="en-US" sz="2200" b="1" dirty="0">
                <a:solidFill>
                  <a:schemeClr val="tx1"/>
                </a:solidFill>
              </a:rPr>
              <a:t>Refunds up to ₹50,000</a:t>
            </a:r>
            <a:endParaRPr lang="en-US" sz="2200" dirty="0"/>
          </a:p>
        </p:txBody>
      </p:sp>
      <p:sp>
        <p:nvSpPr>
          <p:cNvPr id="7" name="Text 5"/>
          <p:cNvSpPr txBox="1"/>
          <p:nvPr/>
        </p:nvSpPr>
        <p:spPr>
          <a:xfrm>
            <a:off x="777240" y="2743200"/>
            <a:ext cx="3383280" cy="274320"/>
          </a:xfrm>
          <a:prstGeom prst="rect">
            <a:avLst/>
          </a:prstGeom>
          <a:noFill/>
          <a:ln/>
        </p:spPr>
        <p:txBody>
          <a:bodyPr wrap="square" lIns="0" tIns="0" rIns="0" bIns="0" rtlCol="0" anchor="t"/>
          <a:lstStyle/>
          <a:p>
            <a:pPr indent="0" marL="0">
              <a:buNone/>
            </a:pPr>
            <a:r>
              <a:rPr lang="en-US" sz="1000" b="1" spc="200" kern="0" dirty="0">
                <a:solidFill>
                  <a:schemeClr val="accent4"/>
                </a:solidFill>
              </a:rPr>
              <a:t>AUTONOMOUS SYSTEM REQUESTS</a:t>
            </a:r>
            <a:endParaRPr lang="en-US" sz="1000" dirty="0"/>
          </a:p>
        </p:txBody>
      </p:sp>
      <p:sp>
        <p:nvSpPr>
          <p:cNvPr id="8" name="Text 6"/>
          <p:cNvSpPr txBox="1"/>
          <p:nvPr/>
        </p:nvSpPr>
        <p:spPr>
          <a:xfrm>
            <a:off x="777240" y="3017520"/>
            <a:ext cx="3383280" cy="822960"/>
          </a:xfrm>
          <a:prstGeom prst="rect">
            <a:avLst/>
          </a:prstGeom>
          <a:noFill/>
          <a:ln/>
        </p:spPr>
        <p:txBody>
          <a:bodyPr wrap="square" lIns="0" tIns="0" rIns="0" bIns="0" rtlCol="0" anchor="t"/>
          <a:lstStyle/>
          <a:p>
            <a:pPr indent="0" marL="0">
              <a:buNone/>
            </a:pPr>
            <a:r>
              <a:rPr lang="en-US" sz="4800" b="1" dirty="0">
                <a:solidFill>
                  <a:schemeClr val="tx1"/>
                </a:solidFill>
              </a:rPr>
              <a:t>₹75,000</a:t>
            </a:r>
            <a:endParaRPr lang="en-US" sz="4800" dirty="0"/>
          </a:p>
        </p:txBody>
      </p:sp>
      <p:sp>
        <p:nvSpPr>
          <p:cNvPr id="9" name="Shape 7"/>
          <p:cNvSpPr/>
          <p:nvPr/>
        </p:nvSpPr>
        <p:spPr>
          <a:xfrm>
            <a:off x="4663440" y="1508760"/>
            <a:ext cx="4023360" cy="2834640"/>
          </a:xfrm>
          <a:prstGeom prst="roundRect">
            <a:avLst>
              <a:gd name="adj" fmla="val 2581"/>
            </a:avLst>
          </a:prstGeom>
          <a:solidFill>
            <a:schemeClr val="tx1"/>
          </a:solidFill>
          <a:ln w="12700">
            <a:solidFill>
              <a:schemeClr val="tx1"/>
            </a:solidFill>
            <a:prstDash val="solid"/>
          </a:ln>
        </p:spPr>
      </p:sp>
      <p:sp>
        <p:nvSpPr>
          <p:cNvPr id="10" name="Text 8"/>
          <p:cNvSpPr txBox="1"/>
          <p:nvPr/>
        </p:nvSpPr>
        <p:spPr>
          <a:xfrm>
            <a:off x="4983480" y="1737360"/>
            <a:ext cx="3383280" cy="274320"/>
          </a:xfrm>
          <a:prstGeom prst="rect">
            <a:avLst/>
          </a:prstGeom>
          <a:noFill/>
          <a:ln/>
        </p:spPr>
        <p:txBody>
          <a:bodyPr wrap="square" lIns="0" tIns="0" rIns="0" bIns="0" rtlCol="0" anchor="t"/>
          <a:lstStyle/>
          <a:p>
            <a:pPr indent="0" marL="0">
              <a:buNone/>
            </a:pPr>
            <a:r>
              <a:rPr lang="en-US" sz="1000" b="1" spc="200" kern="0" dirty="0">
                <a:solidFill>
                  <a:schemeClr val="accent5"/>
                </a:solidFill>
              </a:rPr>
              <a:t>PARMANA</a:t>
            </a:r>
            <a:endParaRPr lang="en-US" sz="1000" dirty="0"/>
          </a:p>
        </p:txBody>
      </p:sp>
      <p:sp>
        <p:nvSpPr>
          <p:cNvPr id="11" name="Text 9"/>
          <p:cNvSpPr txBox="1"/>
          <p:nvPr/>
        </p:nvSpPr>
        <p:spPr>
          <a:xfrm>
            <a:off x="4983480" y="2057400"/>
            <a:ext cx="3383280" cy="822960"/>
          </a:xfrm>
          <a:prstGeom prst="rect">
            <a:avLst/>
          </a:prstGeom>
          <a:noFill/>
          <a:ln/>
        </p:spPr>
        <p:txBody>
          <a:bodyPr wrap="square" lIns="0" tIns="0" rIns="0" bIns="0" rtlCol="0" anchor="t"/>
          <a:lstStyle/>
          <a:p>
            <a:pPr indent="0" marL="0">
              <a:buNone/>
            </a:pPr>
            <a:r>
              <a:rPr lang="en-US" sz="4800" b="1" dirty="0">
                <a:solidFill>
                  <a:schemeClr val="bg1"/>
                </a:solidFill>
              </a:rPr>
              <a:t>STOPPED</a:t>
            </a:r>
            <a:endParaRPr lang="en-US" sz="4800" dirty="0"/>
          </a:p>
        </p:txBody>
      </p:sp>
      <p:sp>
        <p:nvSpPr>
          <p:cNvPr id="12" name="Text 10"/>
          <p:cNvSpPr txBox="1"/>
          <p:nvPr/>
        </p:nvSpPr>
        <p:spPr>
          <a:xfrm>
            <a:off x="4983480" y="2880360"/>
            <a:ext cx="3383280" cy="365760"/>
          </a:xfrm>
          <a:prstGeom prst="rect">
            <a:avLst/>
          </a:prstGeom>
          <a:noFill/>
          <a:ln/>
        </p:spPr>
        <p:txBody>
          <a:bodyPr wrap="square" lIns="0" tIns="0" rIns="0" bIns="0" rtlCol="0" anchor="t"/>
          <a:lstStyle/>
          <a:p>
            <a:pPr indent="0" marL="0">
              <a:buNone/>
            </a:pPr>
            <a:r>
              <a:rPr lang="en-US" sz="1800" b="1" dirty="0">
                <a:solidFill>
                  <a:schemeClr val="bg1"/>
                </a:solidFill>
              </a:rPr>
              <a:t>Outside declared authority</a:t>
            </a:r>
            <a:endParaRPr lang="en-US" sz="1800" dirty="0"/>
          </a:p>
        </p:txBody>
      </p:sp>
      <p:sp>
        <p:nvSpPr>
          <p:cNvPr id="13" name="Text 11"/>
          <p:cNvSpPr txBox="1"/>
          <p:nvPr/>
        </p:nvSpPr>
        <p:spPr>
          <a:xfrm>
            <a:off x="4983480" y="3337560"/>
            <a:ext cx="34747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accent5"/>
                </a:solidFill>
              </a:rPr>
              <a:t>No execution. It never reaches the payment processor.</a:t>
            </a:r>
            <a:endParaRPr lang="en-US" sz="1300" dirty="0"/>
          </a:p>
          <a:p>
            <a:pPr marL="342900" indent="-342900">
              <a:spcAft>
                <a:spcPts val="400"/>
              </a:spcAft>
              <a:buSzPct val="100000"/>
              <a:buChar char="•"/>
            </a:pPr>
            <a:r>
              <a:rPr lang="en-US" sz="1300" dirty="0">
                <a:solidFill>
                  <a:schemeClr val="accent5"/>
                </a:solidFill>
              </a:rPr>
              <a:t>Evidence retained, verifiable independently.</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PRODUCT TODAY</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Built to be checked, not taken on trust</a:t>
            </a:r>
            <a:endParaRPr lang="en-US" sz="2800" dirty="0"/>
          </a:p>
        </p:txBody>
      </p:sp>
      <p:sp>
        <p:nvSpPr>
          <p:cNvPr id="4" name="product-0"/>
          <p:cNvSpPr/>
          <p:nvPr/>
        </p:nvSpPr>
        <p:spPr>
          <a:xfrm>
            <a:off x="457200" y="1508760"/>
            <a:ext cx="2606040" cy="1325880"/>
          </a:xfrm>
          <a:prstGeom prst="roundRect">
            <a:avLst>
              <a:gd name="adj" fmla="val 551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Text 3"/>
          <p:cNvSpPr txBox="1"/>
          <p:nvPr/>
        </p:nvSpPr>
        <p:spPr>
          <a:xfrm>
            <a:off x="685800" y="1691640"/>
            <a:ext cx="2148840" cy="320040"/>
          </a:xfrm>
          <a:prstGeom prst="rect">
            <a:avLst/>
          </a:prstGeom>
          <a:noFill/>
          <a:ln/>
        </p:spPr>
        <p:txBody>
          <a:bodyPr wrap="square" lIns="0" tIns="0" rIns="0" bIns="0" rtlCol="0" anchor="t"/>
          <a:lstStyle/>
          <a:p>
            <a:pPr indent="0" marL="0">
              <a:buNone/>
            </a:pPr>
            <a:r>
              <a:rPr lang="en-US" sz="1500" b="1" dirty="0">
                <a:solidFill>
                  <a:schemeClr val="tx2"/>
                </a:solidFill>
              </a:rPr>
              <a:t>Signed decisions</a:t>
            </a:r>
            <a:endParaRPr lang="en-US" sz="1500" dirty="0"/>
          </a:p>
        </p:txBody>
      </p:sp>
      <p:sp>
        <p:nvSpPr>
          <p:cNvPr id="6" name="Text 4"/>
          <p:cNvSpPr txBox="1"/>
          <p:nvPr/>
        </p:nvSpPr>
        <p:spPr>
          <a:xfrm>
            <a:off x="685800" y="2057400"/>
            <a:ext cx="2148840" cy="731520"/>
          </a:xfrm>
          <a:prstGeom prst="rect">
            <a:avLst/>
          </a:prstGeom>
          <a:noFill/>
          <a:ln/>
        </p:spPr>
        <p:txBody>
          <a:bodyPr wrap="square" lIns="0" tIns="0" rIns="0" bIns="0" rtlCol="0" anchor="t"/>
          <a:lstStyle/>
          <a:p>
            <a:pPr indent="0" marL="0">
              <a:buNone/>
            </a:pPr>
            <a:r>
              <a:rPr lang="en-US" sz="1200" dirty="0">
                <a:solidFill>
                  <a:schemeClr val="tx1"/>
                </a:solidFill>
              </a:rPr>
              <a:t>Ed25519, optionally ML-DSA-65 as well. Signing keys can stay in AWS KMS.</a:t>
            </a:r>
            <a:endParaRPr lang="en-US" sz="1200" dirty="0"/>
          </a:p>
        </p:txBody>
      </p:sp>
      <p:sp>
        <p:nvSpPr>
          <p:cNvPr id="7" name="product-1"/>
          <p:cNvSpPr/>
          <p:nvPr/>
        </p:nvSpPr>
        <p:spPr>
          <a:xfrm>
            <a:off x="3268980" y="1508760"/>
            <a:ext cx="2606040" cy="1325880"/>
          </a:xfrm>
          <a:prstGeom prst="roundRect">
            <a:avLst>
              <a:gd name="adj" fmla="val 551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8" name="Text 6"/>
          <p:cNvSpPr txBox="1"/>
          <p:nvPr/>
        </p:nvSpPr>
        <p:spPr>
          <a:xfrm>
            <a:off x="3497580" y="1691640"/>
            <a:ext cx="2148840" cy="320040"/>
          </a:xfrm>
          <a:prstGeom prst="rect">
            <a:avLst/>
          </a:prstGeom>
          <a:noFill/>
          <a:ln/>
        </p:spPr>
        <p:txBody>
          <a:bodyPr wrap="square" lIns="0" tIns="0" rIns="0" bIns="0" rtlCol="0" anchor="t"/>
          <a:lstStyle/>
          <a:p>
            <a:pPr indent="0" marL="0">
              <a:buNone/>
            </a:pPr>
            <a:r>
              <a:rPr lang="en-US" sz="1500" b="1" dirty="0">
                <a:solidFill>
                  <a:schemeClr val="tx2"/>
                </a:solidFill>
              </a:rPr>
              <a:t>Bound to the action</a:t>
            </a:r>
            <a:endParaRPr lang="en-US" sz="1500" dirty="0"/>
          </a:p>
        </p:txBody>
      </p:sp>
      <p:sp>
        <p:nvSpPr>
          <p:cNvPr id="9" name="Text 7"/>
          <p:cNvSpPr txBox="1"/>
          <p:nvPr/>
        </p:nvSpPr>
        <p:spPr>
          <a:xfrm>
            <a:off x="3497580" y="2057400"/>
            <a:ext cx="2148840" cy="731520"/>
          </a:xfrm>
          <a:prstGeom prst="rect">
            <a:avLst/>
          </a:prstGeom>
          <a:noFill/>
          <a:ln/>
        </p:spPr>
        <p:txBody>
          <a:bodyPr wrap="square" lIns="0" tIns="0" rIns="0" bIns="0" rtlCol="0" anchor="t"/>
          <a:lstStyle/>
          <a:p>
            <a:pPr indent="0" marL="0">
              <a:buNone/>
            </a:pPr>
            <a:r>
              <a:rPr lang="en-US" sz="1200" dirty="0">
                <a:solidFill>
                  <a:schemeClr val="tx1"/>
                </a:solidFill>
              </a:rPr>
              <a:t>Single use authorization for the exact action approved. Change it and it no longer matches.</a:t>
            </a:r>
            <a:endParaRPr lang="en-US" sz="1200" dirty="0"/>
          </a:p>
        </p:txBody>
      </p:sp>
      <p:sp>
        <p:nvSpPr>
          <p:cNvPr id="10" name="product-2"/>
          <p:cNvSpPr/>
          <p:nvPr/>
        </p:nvSpPr>
        <p:spPr>
          <a:xfrm>
            <a:off x="6080760" y="1508760"/>
            <a:ext cx="2606040" cy="1325880"/>
          </a:xfrm>
          <a:prstGeom prst="roundRect">
            <a:avLst>
              <a:gd name="adj" fmla="val 551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1" name="Text 9"/>
          <p:cNvSpPr txBox="1"/>
          <p:nvPr/>
        </p:nvSpPr>
        <p:spPr>
          <a:xfrm>
            <a:off x="6309360" y="1691640"/>
            <a:ext cx="2148840" cy="320040"/>
          </a:xfrm>
          <a:prstGeom prst="rect">
            <a:avLst/>
          </a:prstGeom>
          <a:noFill/>
          <a:ln/>
        </p:spPr>
        <p:txBody>
          <a:bodyPr wrap="square" lIns="0" tIns="0" rIns="0" bIns="0" rtlCol="0" anchor="t"/>
          <a:lstStyle/>
          <a:p>
            <a:pPr indent="0" marL="0">
              <a:buNone/>
            </a:pPr>
            <a:r>
              <a:rPr lang="en-US" sz="1500" b="1" dirty="0">
                <a:solidFill>
                  <a:schemeClr val="tx2"/>
                </a:solidFill>
              </a:rPr>
              <a:t>People decide, twice</a:t>
            </a:r>
            <a:endParaRPr lang="en-US" sz="1500" dirty="0"/>
          </a:p>
        </p:txBody>
      </p:sp>
      <p:sp>
        <p:nvSpPr>
          <p:cNvPr id="12" name="Text 10"/>
          <p:cNvSpPr txBox="1"/>
          <p:nvPr/>
        </p:nvSpPr>
        <p:spPr>
          <a:xfrm>
            <a:off x="6309360" y="2057400"/>
            <a:ext cx="2148840" cy="731520"/>
          </a:xfrm>
          <a:prstGeom prst="rect">
            <a:avLst/>
          </a:prstGeom>
          <a:noFill/>
          <a:ln/>
        </p:spPr>
        <p:txBody>
          <a:bodyPr wrap="square" lIns="0" tIns="0" rIns="0" bIns="0" rtlCol="0" anchor="t"/>
          <a:lstStyle/>
          <a:p>
            <a:pPr indent="0" marL="0">
              <a:buNone/>
            </a:pPr>
            <a:r>
              <a:rPr lang="en-US" sz="1200" dirty="0">
                <a:solidFill>
                  <a:schemeClr val="tx1"/>
                </a:solidFill>
              </a:rPr>
              <a:t>A policy takes effect only after one person proposes it and another approves it.</a:t>
            </a:r>
            <a:endParaRPr lang="en-US" sz="1200" dirty="0"/>
          </a:p>
        </p:txBody>
      </p:sp>
      <p:sp>
        <p:nvSpPr>
          <p:cNvPr id="13" name="product-3"/>
          <p:cNvSpPr/>
          <p:nvPr/>
        </p:nvSpPr>
        <p:spPr>
          <a:xfrm>
            <a:off x="457200" y="3017520"/>
            <a:ext cx="2606040" cy="1325880"/>
          </a:xfrm>
          <a:prstGeom prst="roundRect">
            <a:avLst>
              <a:gd name="adj" fmla="val 551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4" name="Text 12"/>
          <p:cNvSpPr txBox="1"/>
          <p:nvPr/>
        </p:nvSpPr>
        <p:spPr>
          <a:xfrm>
            <a:off x="685800" y="3200400"/>
            <a:ext cx="2148840" cy="320040"/>
          </a:xfrm>
          <a:prstGeom prst="rect">
            <a:avLst/>
          </a:prstGeom>
          <a:noFill/>
          <a:ln/>
        </p:spPr>
        <p:txBody>
          <a:bodyPr wrap="square" lIns="0" tIns="0" rIns="0" bIns="0" rtlCol="0" anchor="t"/>
          <a:lstStyle/>
          <a:p>
            <a:pPr indent="0" marL="0">
              <a:buNone/>
            </a:pPr>
            <a:r>
              <a:rPr lang="en-US" sz="1500" b="1" dirty="0">
                <a:solidFill>
                  <a:schemeClr val="tx2"/>
                </a:solidFill>
              </a:rPr>
              <a:t>Offline verification</a:t>
            </a:r>
            <a:endParaRPr lang="en-US" sz="1500" dirty="0"/>
          </a:p>
        </p:txBody>
      </p:sp>
      <p:sp>
        <p:nvSpPr>
          <p:cNvPr id="15" name="Text 13"/>
          <p:cNvSpPr txBox="1"/>
          <p:nvPr/>
        </p:nvSpPr>
        <p:spPr>
          <a:xfrm>
            <a:off x="685800" y="3566160"/>
            <a:ext cx="2148840" cy="731520"/>
          </a:xfrm>
          <a:prstGeom prst="rect">
            <a:avLst/>
          </a:prstGeom>
          <a:noFill/>
          <a:ln/>
        </p:spPr>
        <p:txBody>
          <a:bodyPr wrap="square" lIns="0" tIns="0" rIns="0" bIns="0" rtlCol="0" anchor="t"/>
          <a:lstStyle/>
          <a:p>
            <a:pPr indent="0" marL="0">
              <a:buNone/>
            </a:pPr>
            <a:r>
              <a:rPr lang="en-US" sz="1200" dirty="0">
                <a:solidFill>
                  <a:schemeClr val="tx1"/>
                </a:solidFill>
              </a:rPr>
              <a:t>Open source @parmana/sign checks a record with only the business's public keys.</a:t>
            </a:r>
            <a:endParaRPr lang="en-US" sz="1200" dirty="0"/>
          </a:p>
        </p:txBody>
      </p:sp>
      <p:sp>
        <p:nvSpPr>
          <p:cNvPr id="16" name="product-4"/>
          <p:cNvSpPr/>
          <p:nvPr/>
        </p:nvSpPr>
        <p:spPr>
          <a:xfrm>
            <a:off x="3268980" y="3017520"/>
            <a:ext cx="2606040" cy="1325880"/>
          </a:xfrm>
          <a:prstGeom prst="roundRect">
            <a:avLst>
              <a:gd name="adj" fmla="val 551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7" name="Text 15"/>
          <p:cNvSpPr txBox="1"/>
          <p:nvPr/>
        </p:nvSpPr>
        <p:spPr>
          <a:xfrm>
            <a:off x="3497580" y="3200400"/>
            <a:ext cx="2148840" cy="320040"/>
          </a:xfrm>
          <a:prstGeom prst="rect">
            <a:avLst/>
          </a:prstGeom>
          <a:noFill/>
          <a:ln/>
        </p:spPr>
        <p:txBody>
          <a:bodyPr wrap="square" lIns="0" tIns="0" rIns="0" bIns="0" rtlCol="0" anchor="t"/>
          <a:lstStyle/>
          <a:p>
            <a:pPr indent="0" marL="0">
              <a:buNone/>
            </a:pPr>
            <a:r>
              <a:rPr lang="en-US" sz="1500" b="1" dirty="0">
                <a:solidFill>
                  <a:schemeClr val="tx2"/>
                </a:solidFill>
              </a:rPr>
              <a:t>Real connectors</a:t>
            </a:r>
            <a:endParaRPr lang="en-US" sz="1500" dirty="0"/>
          </a:p>
        </p:txBody>
      </p:sp>
      <p:sp>
        <p:nvSpPr>
          <p:cNvPr id="18" name="Text 16"/>
          <p:cNvSpPr txBox="1"/>
          <p:nvPr/>
        </p:nvSpPr>
        <p:spPr>
          <a:xfrm>
            <a:off x="3497580" y="3566160"/>
            <a:ext cx="2148840" cy="731520"/>
          </a:xfrm>
          <a:prstGeom prst="rect">
            <a:avLst/>
          </a:prstGeom>
          <a:noFill/>
          <a:ln/>
        </p:spPr>
        <p:txBody>
          <a:bodyPr wrap="square" lIns="0" tIns="0" rIns="0" bIns="0" rtlCol="0" anchor="t"/>
          <a:lstStyle/>
          <a:p>
            <a:pPr indent="0" marL="0">
              <a:buNone/>
            </a:pPr>
            <a:r>
              <a:rPr lang="en-US" sz="1200" dirty="0">
                <a:solidFill>
                  <a:schemeClr val="tx1"/>
                </a:solidFill>
              </a:rPr>
              <a:t>Paytm, HubSpot, GitHub, Slack, and any HTTPS API registered without a deploy.</a:t>
            </a:r>
            <a:endParaRPr lang="en-US" sz="1200" dirty="0"/>
          </a:p>
        </p:txBody>
      </p:sp>
      <p:sp>
        <p:nvSpPr>
          <p:cNvPr id="19" name="product-5"/>
          <p:cNvSpPr/>
          <p:nvPr/>
        </p:nvSpPr>
        <p:spPr>
          <a:xfrm>
            <a:off x="6080760" y="3017520"/>
            <a:ext cx="2606040" cy="1325880"/>
          </a:xfrm>
          <a:prstGeom prst="roundRect">
            <a:avLst>
              <a:gd name="adj" fmla="val 5517"/>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20" name="Text 18"/>
          <p:cNvSpPr txBox="1"/>
          <p:nvPr/>
        </p:nvSpPr>
        <p:spPr>
          <a:xfrm>
            <a:off x="6309360" y="3200400"/>
            <a:ext cx="2148840" cy="320040"/>
          </a:xfrm>
          <a:prstGeom prst="rect">
            <a:avLst/>
          </a:prstGeom>
          <a:noFill/>
          <a:ln/>
        </p:spPr>
        <p:txBody>
          <a:bodyPr wrap="square" lIns="0" tIns="0" rIns="0" bIns="0" rtlCol="0" anchor="t"/>
          <a:lstStyle/>
          <a:p>
            <a:pPr indent="0" marL="0">
              <a:buNone/>
            </a:pPr>
            <a:r>
              <a:rPr lang="en-US" sz="1500" b="1" dirty="0">
                <a:solidFill>
                  <a:schemeClr val="tx2"/>
                </a:solidFill>
              </a:rPr>
              <a:t>Fits any stack</a:t>
            </a:r>
            <a:endParaRPr lang="en-US" sz="1500" dirty="0"/>
          </a:p>
        </p:txBody>
      </p:sp>
      <p:sp>
        <p:nvSpPr>
          <p:cNvPr id="21" name="Text 19"/>
          <p:cNvSpPr txBox="1"/>
          <p:nvPr/>
        </p:nvSpPr>
        <p:spPr>
          <a:xfrm>
            <a:off x="6309360" y="3566160"/>
            <a:ext cx="2148840" cy="731520"/>
          </a:xfrm>
          <a:prstGeom prst="rect">
            <a:avLst/>
          </a:prstGeom>
          <a:noFill/>
          <a:ln/>
        </p:spPr>
        <p:txBody>
          <a:bodyPr wrap="square" lIns="0" tIns="0" rIns="0" bIns="0" rtlCol="0" anchor="t"/>
          <a:lstStyle/>
          <a:p>
            <a:pPr indent="0" marL="0">
              <a:buNone/>
            </a:pPr>
            <a:r>
              <a:rPr lang="en-US" sz="1200" dirty="0">
                <a:solidFill>
                  <a:schemeClr val="tx1"/>
                </a:solidFill>
              </a:rPr>
              <a:t>TypeScript and Python SDKs, REST. Self-hosted, including networks with no internet route.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DIFFERENTIATION</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Other layers answer different questions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560320"/>
                <a:gridCol w="1417320"/>
                <a:gridCol w="1417320"/>
                <a:gridCol w="1417320"/>
                <a:gridCol w="1417320"/>
              </a:tblGrid>
              <a:tr h="438912">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Model guardrails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IAM and API gateways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Logs and observability</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Parmana</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tx2"/>
                    </a:solidFill>
                  </a:tcPr>
                </a:tc>
              </a:tr>
              <a:tr h="43891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Checks business authority per action</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Partly</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3891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Decides before execution</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Partly</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3891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Bound to the exact action approved</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3891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Evidence verifiable without the vendor</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3891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Independent of the AI model</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chemeClr val="accent4"/>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5" name="Text 2"/>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dirty="0">
                <a:solidFill>
                  <a:schemeClr val="accent4"/>
                </a:solidFill>
              </a:rPr>
              <a:t>Parmana complements these layers. It does not replace IAM, gateways or model safety work.</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USE CASES</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Where authority matters</a:t>
            </a:r>
            <a:endParaRPr lang="en-US" sz="2800" dirty="0"/>
          </a:p>
        </p:txBody>
      </p:sp>
      <p:sp>
        <p:nvSpPr>
          <p:cNvPr id="4" name="case-0"/>
          <p:cNvSpPr/>
          <p:nvPr/>
        </p:nvSpPr>
        <p:spPr>
          <a:xfrm>
            <a:off x="457200" y="1600200"/>
            <a:ext cx="1499616" cy="2468880"/>
          </a:xfrm>
          <a:prstGeom prst="roundRect">
            <a:avLst>
              <a:gd name="adj" fmla="val 4878"/>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Shape 3"/>
          <p:cNvSpPr/>
          <p:nvPr/>
        </p:nvSpPr>
        <p:spPr>
          <a:xfrm>
            <a:off x="685800" y="1874520"/>
            <a:ext cx="384048" cy="384048"/>
          </a:xfrm>
          <a:prstGeom prst="ellipse">
            <a:avLst/>
          </a:prstGeom>
          <a:solidFill>
            <a:schemeClr val="bg2"/>
          </a:solidFill>
          <a:ln w="12700">
            <a:solidFill>
              <a:schemeClr val="bg2"/>
            </a:solidFill>
            <a:prstDash val="solid"/>
          </a:ln>
        </p:spPr>
      </p:sp>
      <p:sp>
        <p:nvSpPr>
          <p:cNvPr id="6" name="Text 4"/>
          <p:cNvSpPr txBox="1"/>
          <p:nvPr/>
        </p:nvSpPr>
        <p:spPr>
          <a:xfrm>
            <a:off x="685800" y="1874520"/>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7" name="Text 5"/>
          <p:cNvSpPr txBox="1"/>
          <p:nvPr/>
        </p:nvSpPr>
        <p:spPr>
          <a:xfrm>
            <a:off x="685800" y="2468880"/>
            <a:ext cx="1133856" cy="640080"/>
          </a:xfrm>
          <a:prstGeom prst="rect">
            <a:avLst/>
          </a:prstGeom>
          <a:noFill/>
          <a:ln/>
        </p:spPr>
        <p:txBody>
          <a:bodyPr wrap="square" lIns="0" tIns="0" rIns="0" bIns="0" rtlCol="0" anchor="t"/>
          <a:lstStyle/>
          <a:p>
            <a:pPr indent="0" marL="0">
              <a:buNone/>
            </a:pPr>
            <a:r>
              <a:rPr lang="en-US" sz="1500" b="1" dirty="0">
                <a:solidFill>
                  <a:schemeClr val="tx1"/>
                </a:solidFill>
              </a:rPr>
              <a:t>Payments</a:t>
            </a:r>
            <a:endParaRPr lang="en-US" sz="1500" dirty="0"/>
          </a:p>
        </p:txBody>
      </p:sp>
      <p:sp>
        <p:nvSpPr>
          <p:cNvPr id="8" name="Text 6"/>
          <p:cNvSpPr txBox="1"/>
          <p:nvPr/>
        </p:nvSpPr>
        <p:spPr>
          <a:xfrm>
            <a:off x="685800" y="3108960"/>
            <a:ext cx="1133856" cy="868680"/>
          </a:xfrm>
          <a:prstGeom prst="rect">
            <a:avLst/>
          </a:prstGeom>
          <a:noFill/>
          <a:ln/>
        </p:spPr>
        <p:txBody>
          <a:bodyPr wrap="square" lIns="0" tIns="0" rIns="0" bIns="0" rtlCol="0" anchor="t"/>
          <a:lstStyle/>
          <a:p>
            <a:pPr indent="0" marL="0">
              <a:buNone/>
            </a:pPr>
            <a:r>
              <a:rPr lang="en-US" sz="1200" dirty="0">
                <a:solidFill>
                  <a:schemeClr val="accent4"/>
                </a:solidFill>
              </a:rPr>
              <a:t>Payouts only to approved vendors, within limit</a:t>
            </a:r>
            <a:endParaRPr lang="en-US" sz="1200" dirty="0"/>
          </a:p>
        </p:txBody>
      </p:sp>
      <p:sp>
        <p:nvSpPr>
          <p:cNvPr id="9" name="case-1"/>
          <p:cNvSpPr/>
          <p:nvPr/>
        </p:nvSpPr>
        <p:spPr>
          <a:xfrm>
            <a:off x="2139696" y="1600200"/>
            <a:ext cx="1499616" cy="2468880"/>
          </a:xfrm>
          <a:prstGeom prst="roundRect">
            <a:avLst>
              <a:gd name="adj" fmla="val 4878"/>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0" name="Shape 8"/>
          <p:cNvSpPr/>
          <p:nvPr/>
        </p:nvSpPr>
        <p:spPr>
          <a:xfrm>
            <a:off x="2368296" y="1874520"/>
            <a:ext cx="384048" cy="384048"/>
          </a:xfrm>
          <a:prstGeom prst="ellipse">
            <a:avLst/>
          </a:prstGeom>
          <a:solidFill>
            <a:schemeClr val="bg2"/>
          </a:solidFill>
          <a:ln w="12700">
            <a:solidFill>
              <a:schemeClr val="bg2"/>
            </a:solidFill>
            <a:prstDash val="solid"/>
          </a:ln>
        </p:spPr>
      </p:sp>
      <p:sp>
        <p:nvSpPr>
          <p:cNvPr id="11" name="Text 9"/>
          <p:cNvSpPr txBox="1"/>
          <p:nvPr/>
        </p:nvSpPr>
        <p:spPr>
          <a:xfrm>
            <a:off x="2368296" y="1874520"/>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2" name="Text 10"/>
          <p:cNvSpPr txBox="1"/>
          <p:nvPr/>
        </p:nvSpPr>
        <p:spPr>
          <a:xfrm>
            <a:off x="2368296" y="2468880"/>
            <a:ext cx="1133856" cy="640080"/>
          </a:xfrm>
          <a:prstGeom prst="rect">
            <a:avLst/>
          </a:prstGeom>
          <a:noFill/>
          <a:ln/>
        </p:spPr>
        <p:txBody>
          <a:bodyPr wrap="square" lIns="0" tIns="0" rIns="0" bIns="0" rtlCol="0" anchor="t"/>
          <a:lstStyle/>
          <a:p>
            <a:pPr indent="0" marL="0">
              <a:buNone/>
            </a:pPr>
            <a:r>
              <a:rPr lang="en-US" sz="1500" b="1" dirty="0">
                <a:solidFill>
                  <a:schemeClr val="tx1"/>
                </a:solidFill>
              </a:rPr>
              <a:t>Refunds</a:t>
            </a:r>
            <a:endParaRPr lang="en-US" sz="1500" dirty="0"/>
          </a:p>
        </p:txBody>
      </p:sp>
      <p:sp>
        <p:nvSpPr>
          <p:cNvPr id="13" name="Text 11"/>
          <p:cNvSpPr txBox="1"/>
          <p:nvPr/>
        </p:nvSpPr>
        <p:spPr>
          <a:xfrm>
            <a:off x="2368296" y="3108960"/>
            <a:ext cx="1133856" cy="868680"/>
          </a:xfrm>
          <a:prstGeom prst="rect">
            <a:avLst/>
          </a:prstGeom>
          <a:noFill/>
          <a:ln/>
        </p:spPr>
        <p:txBody>
          <a:bodyPr wrap="square" lIns="0" tIns="0" rIns="0" bIns="0" rtlCol="0" anchor="t"/>
          <a:lstStyle/>
          <a:p>
            <a:pPr indent="0" marL="0">
              <a:buNone/>
            </a:pPr>
            <a:r>
              <a:rPr lang="en-US" sz="1200" dirty="0">
                <a:solidFill>
                  <a:schemeClr val="accent4"/>
                </a:solidFill>
              </a:rPr>
              <a:t>Amount limits, signed approval above them</a:t>
            </a:r>
            <a:endParaRPr lang="en-US" sz="1200" dirty="0"/>
          </a:p>
        </p:txBody>
      </p:sp>
      <p:sp>
        <p:nvSpPr>
          <p:cNvPr id="14" name="case-2"/>
          <p:cNvSpPr/>
          <p:nvPr/>
        </p:nvSpPr>
        <p:spPr>
          <a:xfrm>
            <a:off x="3822192" y="1600200"/>
            <a:ext cx="1499616" cy="2468880"/>
          </a:xfrm>
          <a:prstGeom prst="roundRect">
            <a:avLst>
              <a:gd name="adj" fmla="val 4878"/>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5" name="Shape 13"/>
          <p:cNvSpPr/>
          <p:nvPr/>
        </p:nvSpPr>
        <p:spPr>
          <a:xfrm>
            <a:off x="4050792" y="1874520"/>
            <a:ext cx="384048" cy="384048"/>
          </a:xfrm>
          <a:prstGeom prst="ellipse">
            <a:avLst/>
          </a:prstGeom>
          <a:solidFill>
            <a:schemeClr val="bg2"/>
          </a:solidFill>
          <a:ln w="12700">
            <a:solidFill>
              <a:schemeClr val="bg2"/>
            </a:solidFill>
            <a:prstDash val="solid"/>
          </a:ln>
        </p:spPr>
      </p:sp>
      <p:sp>
        <p:nvSpPr>
          <p:cNvPr id="16" name="Text 14"/>
          <p:cNvSpPr txBox="1"/>
          <p:nvPr/>
        </p:nvSpPr>
        <p:spPr>
          <a:xfrm>
            <a:off x="4050792" y="1874520"/>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17" name="Text 15"/>
          <p:cNvSpPr txBox="1"/>
          <p:nvPr/>
        </p:nvSpPr>
        <p:spPr>
          <a:xfrm>
            <a:off x="4050792" y="2468880"/>
            <a:ext cx="1133856" cy="640080"/>
          </a:xfrm>
          <a:prstGeom prst="rect">
            <a:avLst/>
          </a:prstGeom>
          <a:noFill/>
          <a:ln/>
        </p:spPr>
        <p:txBody>
          <a:bodyPr wrap="square" lIns="0" tIns="0" rIns="0" bIns="0" rtlCol="0" anchor="t"/>
          <a:lstStyle/>
          <a:p>
            <a:pPr indent="0" marL="0">
              <a:buNone/>
            </a:pPr>
            <a:r>
              <a:rPr lang="en-US" sz="1500" b="1" dirty="0">
                <a:solidFill>
                  <a:schemeClr val="tx1"/>
                </a:solidFill>
              </a:rPr>
              <a:t>Procurement</a:t>
            </a:r>
            <a:endParaRPr lang="en-US" sz="1500" dirty="0"/>
          </a:p>
        </p:txBody>
      </p:sp>
      <p:sp>
        <p:nvSpPr>
          <p:cNvPr id="18" name="Text 16"/>
          <p:cNvSpPr txBox="1"/>
          <p:nvPr/>
        </p:nvSpPr>
        <p:spPr>
          <a:xfrm>
            <a:off x="4050792" y="3108960"/>
            <a:ext cx="1133856" cy="868680"/>
          </a:xfrm>
          <a:prstGeom prst="rect">
            <a:avLst/>
          </a:prstGeom>
          <a:noFill/>
          <a:ln/>
        </p:spPr>
        <p:txBody>
          <a:bodyPr wrap="square" lIns="0" tIns="0" rIns="0" bIns="0" rtlCol="0" anchor="t"/>
          <a:lstStyle/>
          <a:p>
            <a:pPr indent="0" marL="0">
              <a:buNone/>
            </a:pPr>
            <a:r>
              <a:rPr lang="en-US" sz="1200" dirty="0">
                <a:solidFill>
                  <a:schemeClr val="accent4"/>
                </a:solidFill>
              </a:rPr>
              <a:t>Purchasing authority per order</a:t>
            </a:r>
            <a:endParaRPr lang="en-US" sz="1200" dirty="0"/>
          </a:p>
        </p:txBody>
      </p:sp>
      <p:sp>
        <p:nvSpPr>
          <p:cNvPr id="19" name="case-3"/>
          <p:cNvSpPr/>
          <p:nvPr/>
        </p:nvSpPr>
        <p:spPr>
          <a:xfrm>
            <a:off x="5504688" y="1600200"/>
            <a:ext cx="1499616" cy="2468880"/>
          </a:xfrm>
          <a:prstGeom prst="roundRect">
            <a:avLst>
              <a:gd name="adj" fmla="val 4878"/>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20" name="Shape 18"/>
          <p:cNvSpPr/>
          <p:nvPr/>
        </p:nvSpPr>
        <p:spPr>
          <a:xfrm>
            <a:off x="5733288" y="1874520"/>
            <a:ext cx="384048" cy="384048"/>
          </a:xfrm>
          <a:prstGeom prst="ellipse">
            <a:avLst/>
          </a:prstGeom>
          <a:solidFill>
            <a:schemeClr val="bg2"/>
          </a:solidFill>
          <a:ln w="12700">
            <a:solidFill>
              <a:schemeClr val="bg2"/>
            </a:solidFill>
            <a:prstDash val="solid"/>
          </a:ln>
        </p:spPr>
      </p:sp>
      <p:sp>
        <p:nvSpPr>
          <p:cNvPr id="21" name="Text 19"/>
          <p:cNvSpPr txBox="1"/>
          <p:nvPr/>
        </p:nvSpPr>
        <p:spPr>
          <a:xfrm>
            <a:off x="5733288" y="1874520"/>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2" name="Text 20"/>
          <p:cNvSpPr txBox="1"/>
          <p:nvPr/>
        </p:nvSpPr>
        <p:spPr>
          <a:xfrm>
            <a:off x="5733288" y="2468880"/>
            <a:ext cx="1133856" cy="640080"/>
          </a:xfrm>
          <a:prstGeom prst="rect">
            <a:avLst/>
          </a:prstGeom>
          <a:noFill/>
          <a:ln/>
        </p:spPr>
        <p:txBody>
          <a:bodyPr wrap="square" lIns="0" tIns="0" rIns="0" bIns="0" rtlCol="0" anchor="t"/>
          <a:lstStyle/>
          <a:p>
            <a:pPr indent="0" marL="0">
              <a:buNone/>
            </a:pPr>
            <a:r>
              <a:rPr lang="en-US" sz="1500" b="1" dirty="0">
                <a:solidFill>
                  <a:schemeClr val="tx1"/>
                </a:solidFill>
              </a:rPr>
              <a:t>Customer operations</a:t>
            </a:r>
            <a:endParaRPr lang="en-US" sz="1500" dirty="0"/>
          </a:p>
        </p:txBody>
      </p:sp>
      <p:sp>
        <p:nvSpPr>
          <p:cNvPr id="23" name="Text 21"/>
          <p:cNvSpPr txBox="1"/>
          <p:nvPr/>
        </p:nvSpPr>
        <p:spPr>
          <a:xfrm>
            <a:off x="5733288" y="3108960"/>
            <a:ext cx="1133856" cy="868680"/>
          </a:xfrm>
          <a:prstGeom prst="rect">
            <a:avLst/>
          </a:prstGeom>
          <a:noFill/>
          <a:ln/>
        </p:spPr>
        <p:txBody>
          <a:bodyPr wrap="square" lIns="0" tIns="0" rIns="0" bIns="0" rtlCol="0" anchor="t"/>
          <a:lstStyle/>
          <a:p>
            <a:pPr indent="0" marL="0">
              <a:buNone/>
            </a:pPr>
            <a:r>
              <a:rPr lang="en-US" sz="1200" dirty="0">
                <a:solidFill>
                  <a:schemeClr val="accent4"/>
                </a:solidFill>
              </a:rPr>
              <a:t>Which records may change, and by how much</a:t>
            </a:r>
            <a:endParaRPr lang="en-US" sz="1200" dirty="0"/>
          </a:p>
        </p:txBody>
      </p:sp>
      <p:sp>
        <p:nvSpPr>
          <p:cNvPr id="24" name="case-4"/>
          <p:cNvSpPr/>
          <p:nvPr/>
        </p:nvSpPr>
        <p:spPr>
          <a:xfrm>
            <a:off x="7187184" y="1600200"/>
            <a:ext cx="1499616" cy="2468880"/>
          </a:xfrm>
          <a:prstGeom prst="roundRect">
            <a:avLst>
              <a:gd name="adj" fmla="val 4878"/>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25" name="Shape 23"/>
          <p:cNvSpPr/>
          <p:nvPr/>
        </p:nvSpPr>
        <p:spPr>
          <a:xfrm>
            <a:off x="7415784" y="1874520"/>
            <a:ext cx="384048" cy="384048"/>
          </a:xfrm>
          <a:prstGeom prst="ellipse">
            <a:avLst/>
          </a:prstGeom>
          <a:solidFill>
            <a:schemeClr val="bg2"/>
          </a:solidFill>
          <a:ln w="12700">
            <a:solidFill>
              <a:schemeClr val="bg2"/>
            </a:solidFill>
            <a:prstDash val="solid"/>
          </a:ln>
        </p:spPr>
      </p:sp>
      <p:sp>
        <p:nvSpPr>
          <p:cNvPr id="26" name="Text 24"/>
          <p:cNvSpPr txBox="1"/>
          <p:nvPr/>
        </p:nvSpPr>
        <p:spPr>
          <a:xfrm>
            <a:off x="7415784" y="1874520"/>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5</a:t>
            </a:r>
            <a:endParaRPr lang="en-US" sz="1300" dirty="0"/>
          </a:p>
        </p:txBody>
      </p:sp>
      <p:sp>
        <p:nvSpPr>
          <p:cNvPr id="27" name="Text 25"/>
          <p:cNvSpPr txBox="1"/>
          <p:nvPr/>
        </p:nvSpPr>
        <p:spPr>
          <a:xfrm>
            <a:off x="7415784" y="2468880"/>
            <a:ext cx="1133856" cy="640080"/>
          </a:xfrm>
          <a:prstGeom prst="rect">
            <a:avLst/>
          </a:prstGeom>
          <a:noFill/>
          <a:ln/>
        </p:spPr>
        <p:txBody>
          <a:bodyPr wrap="square" lIns="0" tIns="0" rIns="0" bIns="0" rtlCol="0" anchor="t"/>
          <a:lstStyle/>
          <a:p>
            <a:pPr indent="0" marL="0">
              <a:buNone/>
            </a:pPr>
            <a:r>
              <a:rPr lang="en-US" sz="1500" b="1" dirty="0">
                <a:solidFill>
                  <a:schemeClr val="tx1"/>
                </a:solidFill>
              </a:rPr>
              <a:t>Engineering</a:t>
            </a:r>
            <a:endParaRPr lang="en-US" sz="1500" dirty="0"/>
          </a:p>
        </p:txBody>
      </p:sp>
      <p:sp>
        <p:nvSpPr>
          <p:cNvPr id="28" name="Text 26"/>
          <p:cNvSpPr txBox="1"/>
          <p:nvPr/>
        </p:nvSpPr>
        <p:spPr>
          <a:xfrm>
            <a:off x="7415784" y="3108960"/>
            <a:ext cx="1133856" cy="868680"/>
          </a:xfrm>
          <a:prstGeom prst="rect">
            <a:avLst/>
          </a:prstGeom>
          <a:noFill/>
          <a:ln/>
        </p:spPr>
        <p:txBody>
          <a:bodyPr wrap="square" lIns="0" tIns="0" rIns="0" bIns="0" rtlCol="0" anchor="t"/>
          <a:lstStyle/>
          <a:p>
            <a:pPr indent="0" marL="0">
              <a:buNone/>
            </a:pPr>
            <a:r>
              <a:rPr lang="en-US" sz="1200" dirty="0">
                <a:solidFill>
                  <a:schemeClr val="accent4"/>
                </a:solidFill>
              </a:rPr>
              <a:t>Merge only the pull request that was approved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GO-TO-MARKET</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Land with one workflow, then expand</a:t>
            </a:r>
            <a:endParaRPr lang="en-US" sz="2800" dirty="0"/>
          </a:p>
        </p:txBody>
      </p:sp>
      <p:sp>
        <p:nvSpPr>
          <p:cNvPr id="4" name="gtm-Land"/>
          <p:cNvSpPr/>
          <p:nvPr/>
        </p:nvSpPr>
        <p:spPr>
          <a:xfrm>
            <a:off x="457200" y="1508760"/>
            <a:ext cx="2514600" cy="2514600"/>
          </a:xfrm>
          <a:prstGeom prst="roundRect">
            <a:avLst>
              <a:gd name="adj" fmla="val 2909"/>
            </a:avLst>
          </a:prstGeom>
          <a:solidFill>
            <a:schemeClr val="tx1"/>
          </a:solidFill>
          <a:ln w="9525">
            <a:solidFill>
              <a:schemeClr val="tx1"/>
            </a:solidFill>
            <a:prstDash val="solid"/>
          </a:ln>
        </p:spPr>
      </p:sp>
      <p:sp>
        <p:nvSpPr>
          <p:cNvPr id="5" name="Text 3"/>
          <p:cNvSpPr txBox="1"/>
          <p:nvPr/>
        </p:nvSpPr>
        <p:spPr>
          <a:xfrm>
            <a:off x="731520" y="1783080"/>
            <a:ext cx="1965960" cy="274320"/>
          </a:xfrm>
          <a:prstGeom prst="rect">
            <a:avLst/>
          </a:prstGeom>
          <a:noFill/>
          <a:ln/>
        </p:spPr>
        <p:txBody>
          <a:bodyPr wrap="square" lIns="0" tIns="0" rIns="0" bIns="0" rtlCol="0" anchor="t"/>
          <a:lstStyle/>
          <a:p>
            <a:pPr indent="0" marL="0">
              <a:buNone/>
            </a:pPr>
            <a:r>
              <a:rPr lang="en-US" sz="1100" b="1" spc="300" kern="0" dirty="0">
                <a:solidFill>
                  <a:schemeClr val="accent5"/>
                </a:solidFill>
              </a:rPr>
              <a:t>LAND</a:t>
            </a:r>
            <a:endParaRPr lang="en-US" sz="1100" dirty="0"/>
          </a:p>
        </p:txBody>
      </p:sp>
      <p:sp>
        <p:nvSpPr>
          <p:cNvPr id="6" name="Text 4"/>
          <p:cNvSpPr txBox="1"/>
          <p:nvPr/>
        </p:nvSpPr>
        <p:spPr>
          <a:xfrm>
            <a:off x="731520" y="2148840"/>
            <a:ext cx="1965960" cy="685800"/>
          </a:xfrm>
          <a:prstGeom prst="rect">
            <a:avLst/>
          </a:prstGeom>
          <a:noFill/>
          <a:ln/>
        </p:spPr>
        <p:txBody>
          <a:bodyPr wrap="square" lIns="0" tIns="0" rIns="0" bIns="0" rtlCol="0" anchor="t"/>
          <a:lstStyle/>
          <a:p>
            <a:pPr indent="0" marL="0">
              <a:buNone/>
            </a:pPr>
            <a:r>
              <a:rPr lang="en-US" sz="1800" b="1" dirty="0">
                <a:solidFill>
                  <a:schemeClr val="bg1"/>
                </a:solidFill>
              </a:rPr>
              <a:t>Payment service providers</a:t>
            </a:r>
            <a:endParaRPr lang="en-US" sz="1800" dirty="0"/>
          </a:p>
        </p:txBody>
      </p:sp>
      <p:sp>
        <p:nvSpPr>
          <p:cNvPr id="7" name="Text 5"/>
          <p:cNvSpPr txBox="1"/>
          <p:nvPr/>
        </p:nvSpPr>
        <p:spPr>
          <a:xfrm>
            <a:off x="731520" y="2834640"/>
            <a:ext cx="1965960" cy="1097280"/>
          </a:xfrm>
          <a:prstGeom prst="rect">
            <a:avLst/>
          </a:prstGeom>
          <a:noFill/>
          <a:ln/>
        </p:spPr>
        <p:txBody>
          <a:bodyPr wrap="square" lIns="0" tIns="0" rIns="0" bIns="0" rtlCol="0" anchor="t"/>
          <a:lstStyle/>
          <a:p>
            <a:pPr indent="0" marL="0">
              <a:buNone/>
            </a:pPr>
            <a:r>
              <a:rPr lang="en-US" sz="1200" dirty="0">
                <a:solidFill>
                  <a:schemeClr val="accent5"/>
                </a:solidFill>
              </a:rPr>
              <a:t>PSPs are where merchants deploy agents that move money: refund disputes, vendor payments, KYC workflows.</a:t>
            </a:r>
            <a:endParaRPr lang="en-US" sz="1200" dirty="0"/>
          </a:p>
        </p:txBody>
      </p:sp>
      <p:sp>
        <p:nvSpPr>
          <p:cNvPr id="8" name="Shape 6"/>
          <p:cNvSpPr/>
          <p:nvPr/>
        </p:nvSpPr>
        <p:spPr>
          <a:xfrm>
            <a:off x="3026664" y="2766060"/>
            <a:ext cx="233172" cy="0"/>
          </a:xfrm>
          <a:prstGeom prst="line">
            <a:avLst/>
          </a:prstGeom>
          <a:noFill/>
          <a:ln w="19050">
            <a:solidFill>
              <a:schemeClr val="accent1"/>
            </a:solidFill>
            <a:prstDash val="solid"/>
            <a:tailEnd type="triangle"/>
          </a:ln>
        </p:spPr>
      </p:sp>
      <p:sp>
        <p:nvSpPr>
          <p:cNvPr id="9" name="gtm-Expand"/>
          <p:cNvSpPr/>
          <p:nvPr/>
        </p:nvSpPr>
        <p:spPr>
          <a:xfrm>
            <a:off x="3314700" y="1508760"/>
            <a:ext cx="2514600" cy="2514600"/>
          </a:xfrm>
          <a:prstGeom prst="roundRect">
            <a:avLst>
              <a:gd name="adj" fmla="val 2909"/>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0" name="Text 8"/>
          <p:cNvSpPr txBox="1"/>
          <p:nvPr/>
        </p:nvSpPr>
        <p:spPr>
          <a:xfrm>
            <a:off x="3589020" y="1783080"/>
            <a:ext cx="1965960" cy="274320"/>
          </a:xfrm>
          <a:prstGeom prst="rect">
            <a:avLst/>
          </a:prstGeom>
          <a:noFill/>
          <a:ln/>
        </p:spPr>
        <p:txBody>
          <a:bodyPr wrap="square" lIns="0" tIns="0" rIns="0" bIns="0" rtlCol="0" anchor="t"/>
          <a:lstStyle/>
          <a:p>
            <a:pPr indent="0" marL="0">
              <a:buNone/>
            </a:pPr>
            <a:r>
              <a:rPr lang="en-US" sz="1100" b="1" spc="300" kern="0" dirty="0">
                <a:solidFill>
                  <a:schemeClr val="tx2"/>
                </a:solidFill>
              </a:rPr>
              <a:t>EXPAND</a:t>
            </a:r>
            <a:endParaRPr lang="en-US" sz="1100" dirty="0"/>
          </a:p>
        </p:txBody>
      </p:sp>
      <p:sp>
        <p:nvSpPr>
          <p:cNvPr id="11" name="Text 9"/>
          <p:cNvSpPr txBox="1"/>
          <p:nvPr/>
        </p:nvSpPr>
        <p:spPr>
          <a:xfrm>
            <a:off x="3589020" y="2148840"/>
            <a:ext cx="1965960" cy="685800"/>
          </a:xfrm>
          <a:prstGeom prst="rect">
            <a:avLst/>
          </a:prstGeom>
          <a:noFill/>
          <a:ln/>
        </p:spPr>
        <p:txBody>
          <a:bodyPr wrap="square" lIns="0" tIns="0" rIns="0" bIns="0" rtlCol="0" anchor="t"/>
          <a:lstStyle/>
          <a:p>
            <a:pPr indent="0" marL="0">
              <a:buNone/>
            </a:pPr>
            <a:r>
              <a:rPr lang="en-US" sz="1800" b="1" dirty="0">
                <a:solidFill>
                  <a:schemeClr val="tx1"/>
                </a:solidFill>
              </a:rPr>
              <a:t>More workflows, same layer</a:t>
            </a:r>
            <a:endParaRPr lang="en-US" sz="1800" dirty="0"/>
          </a:p>
        </p:txBody>
      </p:sp>
      <p:sp>
        <p:nvSpPr>
          <p:cNvPr id="12" name="Text 10"/>
          <p:cNvSpPr txBox="1"/>
          <p:nvPr/>
        </p:nvSpPr>
        <p:spPr>
          <a:xfrm>
            <a:off x="3589020" y="2834640"/>
            <a:ext cx="1965960" cy="1097280"/>
          </a:xfrm>
          <a:prstGeom prst="rect">
            <a:avLst/>
          </a:prstGeom>
          <a:noFill/>
          <a:ln/>
        </p:spPr>
        <p:txBody>
          <a:bodyPr wrap="square" lIns="0" tIns="0" rIns="0" bIns="0" rtlCol="0" anchor="t"/>
          <a:lstStyle/>
          <a:p>
            <a:pPr indent="0" marL="0">
              <a:buNone/>
            </a:pPr>
            <a:r>
              <a:rPr lang="en-US" sz="1200" dirty="0">
                <a:solidFill>
                  <a:schemeClr val="accent4"/>
                </a:solidFill>
              </a:rPr>
              <a:t>Once refunds run through Parmana, payments, procurement and customer operations use the same authority layer.</a:t>
            </a:r>
            <a:endParaRPr lang="en-US" sz="1200" dirty="0"/>
          </a:p>
        </p:txBody>
      </p:sp>
      <p:sp>
        <p:nvSpPr>
          <p:cNvPr id="13" name="Shape 11"/>
          <p:cNvSpPr/>
          <p:nvPr/>
        </p:nvSpPr>
        <p:spPr>
          <a:xfrm>
            <a:off x="5884164" y="2766060"/>
            <a:ext cx="233172" cy="0"/>
          </a:xfrm>
          <a:prstGeom prst="line">
            <a:avLst/>
          </a:prstGeom>
          <a:noFill/>
          <a:ln w="19050">
            <a:solidFill>
              <a:schemeClr val="accent1"/>
            </a:solidFill>
            <a:prstDash val="solid"/>
            <a:tailEnd type="triangle"/>
          </a:ln>
        </p:spPr>
      </p:sp>
      <p:sp>
        <p:nvSpPr>
          <p:cNvPr id="14" name="gtm-Standardize"/>
          <p:cNvSpPr/>
          <p:nvPr/>
        </p:nvSpPr>
        <p:spPr>
          <a:xfrm>
            <a:off x="6172200" y="1508760"/>
            <a:ext cx="2514600" cy="2514600"/>
          </a:xfrm>
          <a:prstGeom prst="roundRect">
            <a:avLst>
              <a:gd name="adj" fmla="val 2909"/>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5" name="Text 13"/>
          <p:cNvSpPr txBox="1"/>
          <p:nvPr/>
        </p:nvSpPr>
        <p:spPr>
          <a:xfrm>
            <a:off x="6446520" y="1783080"/>
            <a:ext cx="1965960" cy="274320"/>
          </a:xfrm>
          <a:prstGeom prst="rect">
            <a:avLst/>
          </a:prstGeom>
          <a:noFill/>
          <a:ln/>
        </p:spPr>
        <p:txBody>
          <a:bodyPr wrap="square" lIns="0" tIns="0" rIns="0" bIns="0" rtlCol="0" anchor="t"/>
          <a:lstStyle/>
          <a:p>
            <a:pPr indent="0" marL="0">
              <a:buNone/>
            </a:pPr>
            <a:r>
              <a:rPr lang="en-US" sz="1100" b="1" spc="300" kern="0" dirty="0">
                <a:solidFill>
                  <a:schemeClr val="tx2"/>
                </a:solidFill>
              </a:rPr>
              <a:t>STANDARDIZE</a:t>
            </a:r>
            <a:endParaRPr lang="en-US" sz="1100" dirty="0"/>
          </a:p>
        </p:txBody>
      </p:sp>
      <p:sp>
        <p:nvSpPr>
          <p:cNvPr id="16" name="Text 14"/>
          <p:cNvSpPr txBox="1"/>
          <p:nvPr/>
        </p:nvSpPr>
        <p:spPr>
          <a:xfrm>
            <a:off x="6446520" y="2148840"/>
            <a:ext cx="1965960" cy="685800"/>
          </a:xfrm>
          <a:prstGeom prst="rect">
            <a:avLst/>
          </a:prstGeom>
          <a:noFill/>
          <a:ln/>
        </p:spPr>
        <p:txBody>
          <a:bodyPr wrap="square" lIns="0" tIns="0" rIns="0" bIns="0" rtlCol="0" anchor="t"/>
          <a:lstStyle/>
          <a:p>
            <a:pPr indent="0" marL="0">
              <a:buNone/>
            </a:pPr>
            <a:r>
              <a:rPr lang="en-US" sz="1800" b="1" dirty="0">
                <a:solidFill>
                  <a:schemeClr val="tx1"/>
                </a:solidFill>
              </a:rPr>
              <a:t>Enterprise default</a:t>
            </a:r>
            <a:endParaRPr lang="en-US" sz="1800" dirty="0"/>
          </a:p>
        </p:txBody>
      </p:sp>
      <p:sp>
        <p:nvSpPr>
          <p:cNvPr id="17" name="Text 15"/>
          <p:cNvSpPr txBox="1"/>
          <p:nvPr/>
        </p:nvSpPr>
        <p:spPr>
          <a:xfrm>
            <a:off x="6446520" y="2834640"/>
            <a:ext cx="1965960" cy="1097280"/>
          </a:xfrm>
          <a:prstGeom prst="rect">
            <a:avLst/>
          </a:prstGeom>
          <a:noFill/>
          <a:ln/>
        </p:spPr>
        <p:txBody>
          <a:bodyPr wrap="square" lIns="0" tIns="0" rIns="0" bIns="0" rtlCol="0" anchor="t"/>
          <a:lstStyle/>
          <a:p>
            <a:pPr indent="0" marL="0">
              <a:buNone/>
            </a:pPr>
            <a:r>
              <a:rPr lang="en-US" sz="1200" dirty="0">
                <a:solidFill>
                  <a:schemeClr val="accent4"/>
                </a:solidFill>
              </a:rPr>
              <a:t>Parmana becomes the place a business declares what autonomous systems are allowed to do.</a:t>
            </a:r>
            <a:endParaRPr lang="en-US" sz="1200" dirty="0"/>
          </a:p>
        </p:txBody>
      </p:sp>
      <p:sp>
        <p:nvSpPr>
          <p:cNvPr id="18" name="Text 1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dirty="0">
                <a:solidFill>
                  <a:schemeClr val="accent4"/>
                </a:solidFill>
              </a:rPr>
              <a:t>Developer-led evaluation runs alongside: public docs, a live playground, source on GitHub and an audit guide.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MARKET</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Start in regulated payments, then expand</a:t>
            </a:r>
            <a:endParaRPr lang="en-US" sz="2800" dirty="0"/>
          </a:p>
        </p:txBody>
      </p:sp>
      <p:sp>
        <p:nvSpPr>
          <p:cNvPr id="4" name="market-0"/>
          <p:cNvSpPr/>
          <p:nvPr/>
        </p:nvSpPr>
        <p:spPr>
          <a:xfrm>
            <a:off x="457200" y="1508760"/>
            <a:ext cx="4023360" cy="2514600"/>
          </a:xfrm>
          <a:prstGeom prst="roundRect">
            <a:avLst>
              <a:gd name="adj" fmla="val 2909"/>
            </a:avLst>
          </a:prstGeom>
          <a:solidFill>
            <a:schemeClr val="bg2"/>
          </a:solidFill>
          <a:ln w="9525">
            <a:solidFill>
              <a:schemeClr val="bg2"/>
            </a:solidFill>
            <a:prstDash val="solid"/>
          </a:ln>
        </p:spPr>
      </p:sp>
      <p:sp>
        <p:nvSpPr>
          <p:cNvPr id="5" name="Text 3"/>
          <p:cNvSpPr txBox="1"/>
          <p:nvPr/>
        </p:nvSpPr>
        <p:spPr>
          <a:xfrm>
            <a:off x="777240" y="1737360"/>
            <a:ext cx="3474720" cy="868680"/>
          </a:xfrm>
          <a:prstGeom prst="rect">
            <a:avLst/>
          </a:prstGeom>
          <a:noFill/>
          <a:ln/>
        </p:spPr>
        <p:txBody>
          <a:bodyPr wrap="square" lIns="0" tIns="0" rIns="0" bIns="0" rtlCol="0" anchor="t"/>
          <a:lstStyle/>
          <a:p>
            <a:pPr indent="0" marL="0">
              <a:buNone/>
            </a:pPr>
            <a:r>
              <a:rPr lang="en-US" sz="4800" b="1" dirty="0">
                <a:solidFill>
                  <a:schemeClr val="tx2"/>
                </a:solidFill>
              </a:rPr>
              <a:t>₹500-1,000</a:t>
            </a:r>
            <a:endParaRPr lang="en-US" sz="4800" dirty="0"/>
          </a:p>
        </p:txBody>
      </p:sp>
      <p:sp>
        <p:nvSpPr>
          <p:cNvPr id="6" name="Text 4"/>
          <p:cNvSpPr txBox="1"/>
          <p:nvPr/>
        </p:nvSpPr>
        <p:spPr>
          <a:xfrm>
            <a:off x="777240" y="2606040"/>
            <a:ext cx="3474720" cy="320040"/>
          </a:xfrm>
          <a:prstGeom prst="rect">
            <a:avLst/>
          </a:prstGeom>
          <a:noFill/>
          <a:ln/>
        </p:spPr>
        <p:txBody>
          <a:bodyPr wrap="square" lIns="0" tIns="0" rIns="0" bIns="0" rtlCol="0" anchor="t"/>
          <a:lstStyle/>
          <a:p>
            <a:pPr indent="0" marL="0">
              <a:buNone/>
            </a:pPr>
            <a:r>
              <a:rPr lang="en-US" sz="1500" b="1" dirty="0">
                <a:solidFill>
                  <a:schemeClr val="tx1"/>
                </a:solidFill>
              </a:rPr>
              <a:t>Crore, India, 2027</a:t>
            </a:r>
            <a:endParaRPr lang="en-US" sz="1500" dirty="0"/>
          </a:p>
        </p:txBody>
      </p:sp>
      <p:sp>
        <p:nvSpPr>
          <p:cNvPr id="7" name="Text 5"/>
          <p:cNvSpPr txBox="1"/>
          <p:nvPr/>
        </p:nvSpPr>
        <p:spPr>
          <a:xfrm>
            <a:off x="777240" y="2971800"/>
            <a:ext cx="3474720" cy="914400"/>
          </a:xfrm>
          <a:prstGeom prst="rect">
            <a:avLst/>
          </a:prstGeom>
          <a:noFill/>
          <a:ln/>
        </p:spPr>
        <p:txBody>
          <a:bodyPr wrap="square" lIns="0" tIns="0" rIns="0" bIns="0" rtlCol="0" anchor="t"/>
          <a:lstStyle/>
          <a:p>
            <a:pPr indent="0" marL="0">
              <a:buNone/>
            </a:pPr>
            <a:r>
              <a:rPr lang="en-US" sz="1300" dirty="0">
                <a:solidFill>
                  <a:schemeClr val="accent4"/>
                </a:solidFill>
              </a:rPr>
              <a:t>Authority layer for autonomous payments in regulated fintech</a:t>
            </a:r>
            <a:endParaRPr lang="en-US" sz="1300" dirty="0"/>
          </a:p>
        </p:txBody>
      </p:sp>
      <p:sp>
        <p:nvSpPr>
          <p:cNvPr id="8" name="market-1"/>
          <p:cNvSpPr/>
          <p:nvPr/>
        </p:nvSpPr>
        <p:spPr>
          <a:xfrm>
            <a:off x="4663440" y="1508760"/>
            <a:ext cx="4023360" cy="2514600"/>
          </a:xfrm>
          <a:prstGeom prst="roundRect">
            <a:avLst>
              <a:gd name="adj" fmla="val 2909"/>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9" name="Text 7"/>
          <p:cNvSpPr txBox="1"/>
          <p:nvPr/>
        </p:nvSpPr>
        <p:spPr>
          <a:xfrm>
            <a:off x="4983480" y="1737360"/>
            <a:ext cx="3474720" cy="868680"/>
          </a:xfrm>
          <a:prstGeom prst="rect">
            <a:avLst/>
          </a:prstGeom>
          <a:noFill/>
          <a:ln/>
        </p:spPr>
        <p:txBody>
          <a:bodyPr wrap="square" lIns="0" tIns="0" rIns="0" bIns="0" rtlCol="0" anchor="t"/>
          <a:lstStyle/>
          <a:p>
            <a:pPr indent="0" marL="0">
              <a:buNone/>
            </a:pPr>
            <a:r>
              <a:rPr lang="en-US" sz="4800" b="1" dirty="0">
                <a:solidFill>
                  <a:schemeClr val="tx2"/>
                </a:solidFill>
              </a:rPr>
              <a:t>$2-5B</a:t>
            </a:r>
            <a:endParaRPr lang="en-US" sz="4800" dirty="0"/>
          </a:p>
        </p:txBody>
      </p:sp>
      <p:sp>
        <p:nvSpPr>
          <p:cNvPr id="10" name="Text 8"/>
          <p:cNvSpPr txBox="1"/>
          <p:nvPr/>
        </p:nvSpPr>
        <p:spPr>
          <a:xfrm>
            <a:off x="4983480" y="2606040"/>
            <a:ext cx="3474720" cy="320040"/>
          </a:xfrm>
          <a:prstGeom prst="rect">
            <a:avLst/>
          </a:prstGeom>
          <a:noFill/>
          <a:ln/>
        </p:spPr>
        <p:txBody>
          <a:bodyPr wrap="square" lIns="0" tIns="0" rIns="0" bIns="0" rtlCol="0" anchor="t"/>
          <a:lstStyle/>
          <a:p>
            <a:pPr indent="0" marL="0">
              <a:buNone/>
            </a:pPr>
            <a:r>
              <a:rPr lang="en-US" sz="1500" b="1" dirty="0">
                <a:solidFill>
                  <a:schemeClr val="tx1"/>
                </a:solidFill>
              </a:rPr>
              <a:t>Global, 2030</a:t>
            </a:r>
            <a:endParaRPr lang="en-US" sz="1500" dirty="0"/>
          </a:p>
        </p:txBody>
      </p:sp>
      <p:sp>
        <p:nvSpPr>
          <p:cNvPr id="11" name="Text 9"/>
          <p:cNvSpPr txBox="1"/>
          <p:nvPr/>
        </p:nvSpPr>
        <p:spPr>
          <a:xfrm>
            <a:off x="4983480" y="2971800"/>
            <a:ext cx="3474720" cy="914400"/>
          </a:xfrm>
          <a:prstGeom prst="rect">
            <a:avLst/>
          </a:prstGeom>
          <a:noFill/>
          <a:ln/>
        </p:spPr>
        <p:txBody>
          <a:bodyPr wrap="square" lIns="0" tIns="0" rIns="0" bIns="0" rtlCol="0" anchor="t"/>
          <a:lstStyle/>
          <a:p>
            <a:pPr indent="0" marL="0">
              <a:buNone/>
            </a:pPr>
            <a:r>
              <a:rPr lang="en-US" sz="1300" dirty="0">
                <a:solidFill>
                  <a:schemeClr val="accent4"/>
                </a:solidFill>
              </a:rPr>
              <a:t>Authorization infrastructure for autonomous systems across financial services, banking and regulated commerce</a:t>
            </a:r>
            <a:endParaRPr lang="en-US" sz="1300" dirty="0"/>
          </a:p>
        </p:txBody>
      </p:sp>
      <p:sp>
        <p:nvSpPr>
          <p:cNvPr id="12" name="Text 10"/>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100" i="1" dirty="0">
                <a:solidFill>
                  <a:schemeClr val="accent4"/>
                </a:solidFill>
              </a:rPr>
              <a:t>Company estimates, not third-party research. Methodology available on request.</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PROGRESS</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Built, hardened and public</a:t>
            </a:r>
            <a:endParaRPr lang="en-US" sz="2800" dirty="0"/>
          </a:p>
        </p:txBody>
      </p:sp>
      <p:sp>
        <p:nvSpPr>
          <p:cNvPr id="4" name="Shape 2"/>
          <p:cNvSpPr/>
          <p:nvPr/>
        </p:nvSpPr>
        <p:spPr>
          <a:xfrm>
            <a:off x="640080" y="1965960"/>
            <a:ext cx="7863840" cy="0"/>
          </a:xfrm>
          <a:prstGeom prst="line">
            <a:avLst/>
          </a:prstGeom>
          <a:noFill/>
          <a:ln w="19050">
            <a:solidFill>
              <a:schemeClr val="accent5"/>
            </a:solidFill>
            <a:prstDash val="solid"/>
          </a:ln>
        </p:spPr>
      </p:sp>
      <p:sp>
        <p:nvSpPr>
          <p:cNvPr id="5" name="Shape 3"/>
          <p:cNvSpPr/>
          <p:nvPr/>
        </p:nvSpPr>
        <p:spPr>
          <a:xfrm>
            <a:off x="502920" y="1865376"/>
            <a:ext cx="201168" cy="201168"/>
          </a:xfrm>
          <a:prstGeom prst="ellipse">
            <a:avLst/>
          </a:prstGeom>
          <a:solidFill>
            <a:schemeClr val="bg1"/>
          </a:solidFill>
          <a:ln w="19050">
            <a:solidFill>
              <a:schemeClr val="accent1"/>
            </a:solidFill>
            <a:prstDash val="solid"/>
          </a:ln>
        </p:spPr>
      </p:sp>
      <p:sp>
        <p:nvSpPr>
          <p:cNvPr id="6" name="Text 4"/>
          <p:cNvSpPr txBox="1"/>
          <p:nvPr/>
        </p:nvSpPr>
        <p:spPr>
          <a:xfrm>
            <a:off x="457200" y="1508760"/>
            <a:ext cx="1920240" cy="274320"/>
          </a:xfrm>
          <a:prstGeom prst="rect">
            <a:avLst/>
          </a:prstGeom>
          <a:noFill/>
          <a:ln/>
        </p:spPr>
        <p:txBody>
          <a:bodyPr wrap="square" lIns="0" tIns="0" rIns="0" bIns="0" rtlCol="0" anchor="t"/>
          <a:lstStyle/>
          <a:p>
            <a:pPr indent="0" marL="0">
              <a:buNone/>
            </a:pPr>
            <a:r>
              <a:rPr lang="en-US" sz="1200" b="1" dirty="0">
                <a:solidFill>
                  <a:schemeClr val="tx2"/>
                </a:solidFill>
              </a:rPr>
              <a:t>2023</a:t>
            </a:r>
            <a:endParaRPr lang="en-US" sz="1200" dirty="0"/>
          </a:p>
        </p:txBody>
      </p:sp>
      <p:sp>
        <p:nvSpPr>
          <p:cNvPr id="7" name="Text 5"/>
          <p:cNvSpPr txBox="1"/>
          <p:nvPr/>
        </p:nvSpPr>
        <p:spPr>
          <a:xfrm>
            <a:off x="457200" y="2240280"/>
            <a:ext cx="1920240" cy="594360"/>
          </a:xfrm>
          <a:prstGeom prst="rect">
            <a:avLst/>
          </a:prstGeom>
          <a:noFill/>
          <a:ln/>
        </p:spPr>
        <p:txBody>
          <a:bodyPr wrap="square" lIns="0" tIns="0" rIns="0" bIns="0" rtlCol="0" anchor="t"/>
          <a:lstStyle/>
          <a:p>
            <a:pPr indent="0" marL="0">
              <a:buNone/>
            </a:pPr>
            <a:r>
              <a:rPr lang="en-US" sz="1500" b="1" dirty="0">
                <a:solidFill>
                  <a:schemeClr val="tx1"/>
                </a:solidFill>
              </a:rPr>
              <a:t>Built from first principles</a:t>
            </a:r>
            <a:endParaRPr lang="en-US" sz="1500" dirty="0"/>
          </a:p>
        </p:txBody>
      </p:sp>
      <p:sp>
        <p:nvSpPr>
          <p:cNvPr id="8" name="Text 6"/>
          <p:cNvSpPr txBox="1"/>
          <p:nvPr/>
        </p:nvSpPr>
        <p:spPr>
          <a:xfrm>
            <a:off x="457200" y="2834640"/>
            <a:ext cx="1920240" cy="1554480"/>
          </a:xfrm>
          <a:prstGeom prst="rect">
            <a:avLst/>
          </a:prstGeom>
          <a:noFill/>
          <a:ln/>
        </p:spPr>
        <p:txBody>
          <a:bodyPr wrap="square" lIns="0" tIns="0" rIns="0" bIns="0" rtlCol="0" anchor="t"/>
          <a:lstStyle/>
          <a:p>
            <a:pPr indent="0" marL="0">
              <a:buNone/>
            </a:pPr>
            <a:r>
              <a:rPr lang="en-US" sz="1200" dirty="0">
                <a:solidFill>
                  <a:schemeClr val="accent4"/>
                </a:solidFill>
              </a:rPr>
              <a:t>Founder starts Parmana around one question: who holds authority when software requests the action?</a:t>
            </a:r>
            <a:endParaRPr lang="en-US" sz="1200" dirty="0"/>
          </a:p>
        </p:txBody>
      </p:sp>
      <p:sp>
        <p:nvSpPr>
          <p:cNvPr id="9" name="Shape 7"/>
          <p:cNvSpPr/>
          <p:nvPr/>
        </p:nvSpPr>
        <p:spPr>
          <a:xfrm>
            <a:off x="2606040" y="1865376"/>
            <a:ext cx="201168" cy="201168"/>
          </a:xfrm>
          <a:prstGeom prst="ellipse">
            <a:avLst/>
          </a:prstGeom>
          <a:solidFill>
            <a:schemeClr val="bg1"/>
          </a:solidFill>
          <a:ln w="19050">
            <a:solidFill>
              <a:schemeClr val="accent1"/>
            </a:solidFill>
            <a:prstDash val="solid"/>
          </a:ln>
        </p:spPr>
      </p:sp>
      <p:sp>
        <p:nvSpPr>
          <p:cNvPr id="10" name="Text 8"/>
          <p:cNvSpPr txBox="1"/>
          <p:nvPr/>
        </p:nvSpPr>
        <p:spPr>
          <a:xfrm>
            <a:off x="2560320" y="1508760"/>
            <a:ext cx="1920240" cy="274320"/>
          </a:xfrm>
          <a:prstGeom prst="rect">
            <a:avLst/>
          </a:prstGeom>
          <a:noFill/>
          <a:ln/>
        </p:spPr>
        <p:txBody>
          <a:bodyPr wrap="square" lIns="0" tIns="0" rIns="0" bIns="0" rtlCol="0" anchor="t"/>
          <a:lstStyle/>
          <a:p>
            <a:pPr indent="0" marL="0">
              <a:buNone/>
            </a:pPr>
            <a:r>
              <a:rPr lang="en-US" sz="1200" b="1" dirty="0">
                <a:solidFill>
                  <a:schemeClr val="tx2"/>
                </a:solidFill>
              </a:rPr>
              <a:t>Sep 2026</a:t>
            </a:r>
            <a:endParaRPr lang="en-US" sz="1200" dirty="0"/>
          </a:p>
        </p:txBody>
      </p:sp>
      <p:sp>
        <p:nvSpPr>
          <p:cNvPr id="11" name="Text 9"/>
          <p:cNvSpPr txBox="1"/>
          <p:nvPr/>
        </p:nvSpPr>
        <p:spPr>
          <a:xfrm>
            <a:off x="2560320" y="2240280"/>
            <a:ext cx="1920240" cy="594360"/>
          </a:xfrm>
          <a:prstGeom prst="rect">
            <a:avLst/>
          </a:prstGeom>
          <a:noFill/>
          <a:ln/>
        </p:spPr>
        <p:txBody>
          <a:bodyPr wrap="square" lIns="0" tIns="0" rIns="0" bIns="0" rtlCol="0" anchor="t"/>
          <a:lstStyle/>
          <a:p>
            <a:pPr indent="0" marL="0">
              <a:buNone/>
            </a:pPr>
            <a:r>
              <a:rPr lang="en-US" sz="1500" b="1" dirty="0">
                <a:solidFill>
                  <a:schemeClr val="tx1"/>
                </a:solidFill>
              </a:rPr>
              <a:t>Security hardening shipped</a:t>
            </a:r>
            <a:endParaRPr lang="en-US" sz="1500" dirty="0"/>
          </a:p>
        </p:txBody>
      </p:sp>
      <p:sp>
        <p:nvSpPr>
          <p:cNvPr id="12" name="Text 10"/>
          <p:cNvSpPr txBox="1"/>
          <p:nvPr/>
        </p:nvSpPr>
        <p:spPr>
          <a:xfrm>
            <a:off x="2560320" y="2834640"/>
            <a:ext cx="1920240" cy="1554480"/>
          </a:xfrm>
          <a:prstGeom prst="rect">
            <a:avLst/>
          </a:prstGeom>
          <a:noFill/>
          <a:ln/>
        </p:spPr>
        <p:txBody>
          <a:bodyPr wrap="square" lIns="0" tIns="0" rIns="0" bIns="0" rtlCol="0" anchor="t"/>
          <a:lstStyle/>
          <a:p>
            <a:pPr indent="0" marL="0">
              <a:buNone/>
            </a:pPr>
            <a:r>
              <a:rPr lang="en-US" sz="1200" dirty="0">
                <a:solidFill>
                  <a:schemeClr val="accent4"/>
                </a:solidFill>
              </a:rPr>
              <a:t>KMS signer (private key never leaves AWS), Secrets Manager, payment-provider signature verification. 209 tests passing.</a:t>
            </a:r>
            <a:endParaRPr lang="en-US" sz="1200" dirty="0"/>
          </a:p>
        </p:txBody>
      </p:sp>
      <p:sp>
        <p:nvSpPr>
          <p:cNvPr id="13" name="Shape 11"/>
          <p:cNvSpPr/>
          <p:nvPr/>
        </p:nvSpPr>
        <p:spPr>
          <a:xfrm>
            <a:off x="4709160" y="1865376"/>
            <a:ext cx="201168" cy="201168"/>
          </a:xfrm>
          <a:prstGeom prst="ellipse">
            <a:avLst/>
          </a:prstGeom>
          <a:solidFill>
            <a:schemeClr val="bg1"/>
          </a:solidFill>
          <a:ln w="19050">
            <a:solidFill>
              <a:schemeClr val="accent1"/>
            </a:solidFill>
            <a:prstDash val="solid"/>
          </a:ln>
        </p:spPr>
      </p:sp>
      <p:sp>
        <p:nvSpPr>
          <p:cNvPr id="14" name="Text 12"/>
          <p:cNvSpPr txBox="1"/>
          <p:nvPr/>
        </p:nvSpPr>
        <p:spPr>
          <a:xfrm>
            <a:off x="4663440" y="1508760"/>
            <a:ext cx="1920240" cy="274320"/>
          </a:xfrm>
          <a:prstGeom prst="rect">
            <a:avLst/>
          </a:prstGeom>
          <a:noFill/>
          <a:ln/>
        </p:spPr>
        <p:txBody>
          <a:bodyPr wrap="square" lIns="0" tIns="0" rIns="0" bIns="0" rtlCol="0" anchor="t"/>
          <a:lstStyle/>
          <a:p>
            <a:pPr indent="0" marL="0">
              <a:buNone/>
            </a:pPr>
            <a:r>
              <a:rPr lang="en-US" sz="1200" b="1" dirty="0">
                <a:solidFill>
                  <a:schemeClr val="tx2"/>
                </a:solidFill>
              </a:rPr>
              <a:t>Sep 2026</a:t>
            </a:r>
            <a:endParaRPr lang="en-US" sz="1200" dirty="0"/>
          </a:p>
        </p:txBody>
      </p:sp>
      <p:sp>
        <p:nvSpPr>
          <p:cNvPr id="15" name="Text 13"/>
          <p:cNvSpPr txBox="1"/>
          <p:nvPr/>
        </p:nvSpPr>
        <p:spPr>
          <a:xfrm>
            <a:off x="4663440" y="2240280"/>
            <a:ext cx="1920240" cy="594360"/>
          </a:xfrm>
          <a:prstGeom prst="rect">
            <a:avLst/>
          </a:prstGeom>
          <a:noFill/>
          <a:ln/>
        </p:spPr>
        <p:txBody>
          <a:bodyPr wrap="square" lIns="0" tIns="0" rIns="0" bIns="0" rtlCol="0" anchor="t"/>
          <a:lstStyle/>
          <a:p>
            <a:pPr indent="0" marL="0">
              <a:buNone/>
            </a:pPr>
            <a:r>
              <a:rPr lang="en-US" sz="1500" b="1" dirty="0">
                <a:solidFill>
                  <a:schemeClr val="tx1"/>
                </a:solidFill>
              </a:rPr>
              <a:t>API deployed</a:t>
            </a:r>
            <a:endParaRPr lang="en-US" sz="1500" dirty="0"/>
          </a:p>
        </p:txBody>
      </p:sp>
      <p:sp>
        <p:nvSpPr>
          <p:cNvPr id="16" name="Text 14"/>
          <p:cNvSpPr txBox="1"/>
          <p:nvPr/>
        </p:nvSpPr>
        <p:spPr>
          <a:xfrm>
            <a:off x="4663440" y="2834640"/>
            <a:ext cx="1920240" cy="1554480"/>
          </a:xfrm>
          <a:prstGeom prst="rect">
            <a:avLst/>
          </a:prstGeom>
          <a:noFill/>
          <a:ln/>
        </p:spPr>
        <p:txBody>
          <a:bodyPr wrap="square" lIns="0" tIns="0" rIns="0" bIns="0" rtlCol="0" anchor="t"/>
          <a:lstStyle/>
          <a:p>
            <a:pPr indent="0" marL="0">
              <a:buNone/>
            </a:pPr>
            <a:r>
              <a:rPr lang="en-US" sz="1200" dirty="0">
                <a:solidFill>
                  <a:schemeClr val="accent4"/>
                </a:solidFill>
              </a:rPr>
              <a:t>Parmana API live on Vercel with health checks passing.</a:t>
            </a:r>
            <a:endParaRPr lang="en-US" sz="1200" dirty="0"/>
          </a:p>
        </p:txBody>
      </p:sp>
      <p:sp>
        <p:nvSpPr>
          <p:cNvPr id="17" name="Shape 15"/>
          <p:cNvSpPr/>
          <p:nvPr/>
        </p:nvSpPr>
        <p:spPr>
          <a:xfrm>
            <a:off x="6812280" y="1865376"/>
            <a:ext cx="201168" cy="201168"/>
          </a:xfrm>
          <a:prstGeom prst="ellipse">
            <a:avLst/>
          </a:prstGeom>
          <a:solidFill>
            <a:schemeClr val="accent1"/>
          </a:solidFill>
          <a:ln w="19050">
            <a:solidFill>
              <a:schemeClr val="accent1"/>
            </a:solidFill>
            <a:prstDash val="solid"/>
          </a:ln>
        </p:spPr>
      </p:sp>
      <p:sp>
        <p:nvSpPr>
          <p:cNvPr id="18" name="Text 16"/>
          <p:cNvSpPr txBox="1"/>
          <p:nvPr/>
        </p:nvSpPr>
        <p:spPr>
          <a:xfrm>
            <a:off x="6766560" y="1508760"/>
            <a:ext cx="1920240" cy="274320"/>
          </a:xfrm>
          <a:prstGeom prst="rect">
            <a:avLst/>
          </a:prstGeom>
          <a:noFill/>
          <a:ln/>
        </p:spPr>
        <p:txBody>
          <a:bodyPr wrap="square" lIns="0" tIns="0" rIns="0" bIns="0" rtlCol="0" anchor="t"/>
          <a:lstStyle/>
          <a:p>
            <a:pPr indent="0" marL="0">
              <a:buNone/>
            </a:pPr>
            <a:r>
              <a:rPr lang="en-US" sz="1200" b="1" dirty="0">
                <a:solidFill>
                  <a:schemeClr val="tx2"/>
                </a:solidFill>
              </a:rPr>
              <a:t>Oct 2026</a:t>
            </a:r>
            <a:endParaRPr lang="en-US" sz="1200" dirty="0"/>
          </a:p>
        </p:txBody>
      </p:sp>
      <p:sp>
        <p:nvSpPr>
          <p:cNvPr id="19" name="Text 17"/>
          <p:cNvSpPr txBox="1"/>
          <p:nvPr/>
        </p:nvSpPr>
        <p:spPr>
          <a:xfrm>
            <a:off x="6766560" y="2240280"/>
            <a:ext cx="1920240" cy="594360"/>
          </a:xfrm>
          <a:prstGeom prst="rect">
            <a:avLst/>
          </a:prstGeom>
          <a:noFill/>
          <a:ln/>
        </p:spPr>
        <p:txBody>
          <a:bodyPr wrap="square" lIns="0" tIns="0" rIns="0" bIns="0" rtlCol="0" anchor="t"/>
          <a:lstStyle/>
          <a:p>
            <a:pPr indent="0" marL="0">
              <a:buNone/>
            </a:pPr>
            <a:r>
              <a:rPr lang="en-US" sz="1500" b="1" dirty="0">
                <a:solidFill>
                  <a:schemeClr val="tx1"/>
                </a:solidFill>
              </a:rPr>
              <a:t>Public and evaluable</a:t>
            </a:r>
            <a:endParaRPr lang="en-US" sz="1500" dirty="0"/>
          </a:p>
        </p:txBody>
      </p:sp>
      <p:sp>
        <p:nvSpPr>
          <p:cNvPr id="20" name="Text 18"/>
          <p:cNvSpPr txBox="1"/>
          <p:nvPr/>
        </p:nvSpPr>
        <p:spPr>
          <a:xfrm>
            <a:off x="6766560" y="2834640"/>
            <a:ext cx="1920240" cy="1554480"/>
          </a:xfrm>
          <a:prstGeom prst="rect">
            <a:avLst/>
          </a:prstGeom>
          <a:noFill/>
          <a:ln/>
        </p:spPr>
        <p:txBody>
          <a:bodyPr wrap="square" lIns="0" tIns="0" rIns="0" bIns="0" rtlCol="0" anchor="t"/>
          <a:lstStyle/>
          <a:p>
            <a:pPr indent="0" marL="0">
              <a:buNone/>
            </a:pPr>
            <a:r>
              <a:rPr lang="en-US" sz="1200" dirty="0">
                <a:solidFill>
                  <a:schemeClr val="accent4"/>
                </a:solidFill>
              </a:rPr>
              <a:t>Docs, live playground, demo video, audit guide, source on GitHub, repositioned site.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TEAM</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Builders who have run trust and scale in production</a:t>
            </a:r>
            <a:endParaRPr lang="en-US" sz="2800" dirty="0"/>
          </a:p>
        </p:txBody>
      </p:sp>
      <p:sp>
        <p:nvSpPr>
          <p:cNvPr id="4" name="team-0"/>
          <p:cNvSpPr/>
          <p:nvPr/>
        </p:nvSpPr>
        <p:spPr>
          <a:xfrm>
            <a:off x="457200" y="1508760"/>
            <a:ext cx="4023360" cy="2880360"/>
          </a:xfrm>
          <a:prstGeom prst="roundRect">
            <a:avLst>
              <a:gd name="adj" fmla="val 2540"/>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5" name="Shape 3"/>
          <p:cNvSpPr/>
          <p:nvPr/>
        </p:nvSpPr>
        <p:spPr>
          <a:xfrm>
            <a:off x="731520" y="1737360"/>
            <a:ext cx="685800" cy="685800"/>
          </a:xfrm>
          <a:prstGeom prst="ellipse">
            <a:avLst/>
          </a:prstGeom>
          <a:solidFill>
            <a:schemeClr val="accent1"/>
          </a:solidFill>
          <a:ln w="12700">
            <a:solidFill>
              <a:schemeClr val="accent1"/>
            </a:solidFill>
            <a:prstDash val="solid"/>
          </a:ln>
        </p:spPr>
      </p:sp>
      <p:sp>
        <p:nvSpPr>
          <p:cNvPr id="6" name="Text 4"/>
          <p:cNvSpPr txBox="1"/>
          <p:nvPr/>
        </p:nvSpPr>
        <p:spPr>
          <a:xfrm>
            <a:off x="731520" y="173736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PC</a:t>
            </a:r>
            <a:endParaRPr lang="en-US" sz="1800" dirty="0"/>
          </a:p>
        </p:txBody>
      </p:sp>
      <p:sp>
        <p:nvSpPr>
          <p:cNvPr id="7" name="Text 5"/>
          <p:cNvSpPr txBox="1"/>
          <p:nvPr/>
        </p:nvSpPr>
        <p:spPr>
          <a:xfrm>
            <a:off x="1600200" y="1783080"/>
            <a:ext cx="2651760" cy="320040"/>
          </a:xfrm>
          <a:prstGeom prst="rect">
            <a:avLst/>
          </a:prstGeom>
          <a:noFill/>
          <a:ln/>
        </p:spPr>
        <p:txBody>
          <a:bodyPr wrap="square" lIns="0" tIns="0" rIns="0" bIns="0" rtlCol="0" anchor="t"/>
          <a:lstStyle/>
          <a:p>
            <a:pPr indent="0" marL="0">
              <a:buNone/>
            </a:pPr>
            <a:r>
              <a:rPr lang="en-US" sz="1800" b="1" dirty="0">
                <a:solidFill>
                  <a:schemeClr val="tx1"/>
                </a:solidFill>
              </a:rPr>
              <a:t>Pavan Charak</a:t>
            </a:r>
            <a:endParaRPr lang="en-US" sz="1800" dirty="0"/>
          </a:p>
        </p:txBody>
      </p:sp>
      <p:sp>
        <p:nvSpPr>
          <p:cNvPr id="8" name="Text 6"/>
          <p:cNvSpPr txBox="1"/>
          <p:nvPr/>
        </p:nvSpPr>
        <p:spPr>
          <a:xfrm>
            <a:off x="1600200" y="2121408"/>
            <a:ext cx="2651760" cy="274320"/>
          </a:xfrm>
          <a:prstGeom prst="rect">
            <a:avLst/>
          </a:prstGeom>
          <a:noFill/>
          <a:ln/>
        </p:spPr>
        <p:txBody>
          <a:bodyPr wrap="square" lIns="0" tIns="0" rIns="0" bIns="0" rtlCol="0" anchor="t"/>
          <a:lstStyle/>
          <a:p>
            <a:pPr indent="0" marL="0">
              <a:buNone/>
            </a:pPr>
            <a:r>
              <a:rPr lang="en-US" sz="1200" b="1" dirty="0">
                <a:solidFill>
                  <a:schemeClr val="tx2"/>
                </a:solidFill>
              </a:rPr>
              <a:t>CEO and System Architect</a:t>
            </a:r>
            <a:endParaRPr lang="en-US" sz="1200" dirty="0"/>
          </a:p>
        </p:txBody>
      </p:sp>
      <p:sp>
        <p:nvSpPr>
          <p:cNvPr id="9" name="Text 7"/>
          <p:cNvSpPr txBox="1"/>
          <p:nvPr/>
        </p:nvSpPr>
        <p:spPr>
          <a:xfrm>
            <a:off x="731520" y="2651760"/>
            <a:ext cx="3474720" cy="1645920"/>
          </a:xfrm>
          <a:prstGeom prst="rect">
            <a:avLst/>
          </a:prstGeom>
          <a:noFill/>
          <a:ln/>
        </p:spPr>
        <p:txBody>
          <a:bodyPr wrap="square" lIns="0" tIns="0" rIns="0" bIns="0" rtlCol="0" anchor="t"/>
          <a:lstStyle/>
          <a:p>
            <a:pPr indent="0" marL="0">
              <a:buNone/>
            </a:pPr>
            <a:r>
              <a:rPr lang="en-US" sz="1200" dirty="0">
                <a:solidFill>
                  <a:schemeClr val="tx1"/>
                </a:solidFill>
              </a:rPr>
              <a:t>13 years across engineering, product and founding. Software Engineer at TCS. Account Manager at MakeMyTrip, managing ₹1,500 crore in annual hospitality partnerships. Associate Product Manager at Shaadi.com (2M+ monthly active users), where the trust and safety portfolio cut platform abuse 25-30%.</a:t>
            </a:r>
            <a:endParaRPr lang="en-US" sz="1200" dirty="0"/>
          </a:p>
        </p:txBody>
      </p:sp>
      <p:sp>
        <p:nvSpPr>
          <p:cNvPr id="10" name="team-1"/>
          <p:cNvSpPr/>
          <p:nvPr/>
        </p:nvSpPr>
        <p:spPr>
          <a:xfrm>
            <a:off x="4663440" y="1508760"/>
            <a:ext cx="4023360" cy="2880360"/>
          </a:xfrm>
          <a:prstGeom prst="roundRect">
            <a:avLst>
              <a:gd name="adj" fmla="val 2540"/>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1" name="Shape 9"/>
          <p:cNvSpPr/>
          <p:nvPr/>
        </p:nvSpPr>
        <p:spPr>
          <a:xfrm>
            <a:off x="4937760" y="1737360"/>
            <a:ext cx="685800" cy="685800"/>
          </a:xfrm>
          <a:prstGeom prst="ellipse">
            <a:avLst/>
          </a:prstGeom>
          <a:solidFill>
            <a:schemeClr val="tx2"/>
          </a:solidFill>
          <a:ln w="12700">
            <a:solidFill>
              <a:schemeClr val="tx2"/>
            </a:solidFill>
            <a:prstDash val="solid"/>
          </a:ln>
        </p:spPr>
      </p:sp>
      <p:sp>
        <p:nvSpPr>
          <p:cNvPr id="12" name="Text 10"/>
          <p:cNvSpPr txBox="1"/>
          <p:nvPr/>
        </p:nvSpPr>
        <p:spPr>
          <a:xfrm>
            <a:off x="4937760" y="173736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MS</a:t>
            </a:r>
            <a:endParaRPr lang="en-US" sz="1800" dirty="0"/>
          </a:p>
        </p:txBody>
      </p:sp>
      <p:sp>
        <p:nvSpPr>
          <p:cNvPr id="13" name="Text 11"/>
          <p:cNvSpPr txBox="1"/>
          <p:nvPr/>
        </p:nvSpPr>
        <p:spPr>
          <a:xfrm>
            <a:off x="5806440" y="1783080"/>
            <a:ext cx="2651760" cy="320040"/>
          </a:xfrm>
          <a:prstGeom prst="rect">
            <a:avLst/>
          </a:prstGeom>
          <a:noFill/>
          <a:ln/>
        </p:spPr>
        <p:txBody>
          <a:bodyPr wrap="square" lIns="0" tIns="0" rIns="0" bIns="0" rtlCol="0" anchor="t"/>
          <a:lstStyle/>
          <a:p>
            <a:pPr indent="0" marL="0">
              <a:buNone/>
            </a:pPr>
            <a:r>
              <a:rPr lang="en-US" sz="1800" b="1" dirty="0">
                <a:solidFill>
                  <a:schemeClr val="tx1"/>
                </a:solidFill>
              </a:rPr>
              <a:t>Mohinder Singh</a:t>
            </a:r>
            <a:endParaRPr lang="en-US" sz="1800" dirty="0"/>
          </a:p>
        </p:txBody>
      </p:sp>
      <p:sp>
        <p:nvSpPr>
          <p:cNvPr id="14" name="Text 12"/>
          <p:cNvSpPr txBox="1"/>
          <p:nvPr/>
        </p:nvSpPr>
        <p:spPr>
          <a:xfrm>
            <a:off x="5806440" y="2121408"/>
            <a:ext cx="2651760" cy="274320"/>
          </a:xfrm>
          <a:prstGeom prst="rect">
            <a:avLst/>
          </a:prstGeom>
          <a:noFill/>
          <a:ln/>
        </p:spPr>
        <p:txBody>
          <a:bodyPr wrap="square" lIns="0" tIns="0" rIns="0" bIns="0" rtlCol="0" anchor="t"/>
          <a:lstStyle/>
          <a:p>
            <a:pPr indent="0" marL="0">
              <a:buNone/>
            </a:pPr>
            <a:r>
              <a:rPr lang="en-US" sz="1200" b="1" dirty="0">
                <a:solidFill>
                  <a:schemeClr val="tx2"/>
                </a:solidFill>
              </a:rPr>
              <a:t>Co-Founder and Policy Advisor</a:t>
            </a:r>
            <a:endParaRPr lang="en-US" sz="1200" dirty="0"/>
          </a:p>
        </p:txBody>
      </p:sp>
      <p:sp>
        <p:nvSpPr>
          <p:cNvPr id="15" name="Text 13"/>
          <p:cNvSpPr txBox="1"/>
          <p:nvPr/>
        </p:nvSpPr>
        <p:spPr>
          <a:xfrm>
            <a:off x="4937760" y="2651760"/>
            <a:ext cx="3474720" cy="1645920"/>
          </a:xfrm>
          <a:prstGeom prst="rect">
            <a:avLst/>
          </a:prstGeom>
          <a:noFill/>
          <a:ln/>
        </p:spPr>
        <p:txBody>
          <a:bodyPr wrap="square" lIns="0" tIns="0" rIns="0" bIns="0" rtlCol="0" anchor="t"/>
          <a:lstStyle/>
          <a:p>
            <a:pPr indent="0" marL="0">
              <a:buNone/>
            </a:pPr>
            <a:r>
              <a:rPr lang="en-US" sz="1200" dirty="0">
                <a:solidFill>
                  <a:schemeClr val="tx1"/>
                </a:solidFill>
              </a:rPr>
              <a:t>Career spanning policy, governance and organizational design. Has seen first-hand how weaknesses in a control layer scale across enterprises, which shapes Parmana's core thesis: authority systems strong enough that autonomous systems cannot bypass them.</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100" b="1" spc="300" kern="0" dirty="0">
                <a:solidFill>
                  <a:schemeClr val="tx2"/>
                </a:solidFill>
              </a:rPr>
              <a:t>THE ASK</a:t>
            </a:r>
            <a:endParaRPr lang="en-US" sz="1100" dirty="0"/>
          </a:p>
        </p:txBody>
      </p:sp>
      <p:sp>
        <p:nvSpPr>
          <p:cNvPr id="3" name="Text 0"/>
          <p:cNvSpPr/>
          <p:nvPr>
            <p:ph idx="101"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Raising $3-5M Series A</a:t>
            </a:r>
            <a:endParaRPr lang="en-US" sz="2800" dirty="0"/>
          </a:p>
        </p:txBody>
      </p:sp>
      <p:sp>
        <p:nvSpPr>
          <p:cNvPr id="4" name="Shape 2"/>
          <p:cNvSpPr/>
          <p:nvPr/>
        </p:nvSpPr>
        <p:spPr>
          <a:xfrm>
            <a:off x="457200" y="1508760"/>
            <a:ext cx="3108960" cy="2834640"/>
          </a:xfrm>
          <a:prstGeom prst="roundRect">
            <a:avLst>
              <a:gd name="adj" fmla="val 2581"/>
            </a:avLst>
          </a:prstGeom>
          <a:solidFill>
            <a:schemeClr val="tx1"/>
          </a:solidFill>
          <a:ln w="12700">
            <a:solidFill>
              <a:schemeClr val="tx1"/>
            </a:solidFill>
            <a:prstDash val="solid"/>
          </a:ln>
        </p:spPr>
      </p:sp>
      <p:sp>
        <p:nvSpPr>
          <p:cNvPr id="5" name="Text 3"/>
          <p:cNvSpPr txBox="1"/>
          <p:nvPr/>
        </p:nvSpPr>
        <p:spPr>
          <a:xfrm>
            <a:off x="777240" y="1828800"/>
            <a:ext cx="2560320" cy="914400"/>
          </a:xfrm>
          <a:prstGeom prst="rect">
            <a:avLst/>
          </a:prstGeom>
          <a:noFill/>
          <a:ln/>
        </p:spPr>
        <p:txBody>
          <a:bodyPr wrap="square" lIns="0" tIns="0" rIns="0" bIns="0" rtlCol="0" anchor="t"/>
          <a:lstStyle/>
          <a:p>
            <a:pPr indent="0" marL="0">
              <a:buNone/>
            </a:pPr>
            <a:r>
              <a:rPr lang="en-US" sz="5400" b="1" dirty="0">
                <a:solidFill>
                  <a:schemeClr val="bg1"/>
                </a:solidFill>
              </a:rPr>
              <a:t>$3-5M</a:t>
            </a:r>
            <a:endParaRPr lang="en-US" sz="5400" dirty="0"/>
          </a:p>
        </p:txBody>
      </p:sp>
      <p:sp>
        <p:nvSpPr>
          <p:cNvPr id="6" name="Text 4"/>
          <p:cNvSpPr txBox="1"/>
          <p:nvPr/>
        </p:nvSpPr>
        <p:spPr>
          <a:xfrm>
            <a:off x="777240" y="2743200"/>
            <a:ext cx="2560320" cy="365760"/>
          </a:xfrm>
          <a:prstGeom prst="rect">
            <a:avLst/>
          </a:prstGeom>
          <a:noFill/>
          <a:ln/>
        </p:spPr>
        <p:txBody>
          <a:bodyPr wrap="square" lIns="0" tIns="0" rIns="0" bIns="0" rtlCol="0" anchor="t"/>
          <a:lstStyle/>
          <a:p>
            <a:pPr indent="0" marL="0">
              <a:buNone/>
            </a:pPr>
            <a:r>
              <a:rPr lang="en-US" sz="1800" b="1" dirty="0">
                <a:solidFill>
                  <a:schemeClr val="accent5"/>
                </a:solidFill>
              </a:rPr>
              <a:t>Series A</a:t>
            </a:r>
            <a:endParaRPr lang="en-US" sz="1800" dirty="0"/>
          </a:p>
        </p:txBody>
      </p:sp>
      <p:sp>
        <p:nvSpPr>
          <p:cNvPr id="7" name="Text 5"/>
          <p:cNvSpPr txBox="1"/>
          <p:nvPr/>
        </p:nvSpPr>
        <p:spPr>
          <a:xfrm>
            <a:off x="777240" y="3200400"/>
            <a:ext cx="2514600" cy="914400"/>
          </a:xfrm>
          <a:prstGeom prst="rect">
            <a:avLst/>
          </a:prstGeom>
          <a:noFill/>
          <a:ln/>
        </p:spPr>
        <p:txBody>
          <a:bodyPr wrap="square" lIns="0" tIns="0" rIns="0" bIns="0" rtlCol="0" anchor="t"/>
          <a:lstStyle/>
          <a:p>
            <a:pPr indent="0" marL="0">
              <a:buNone/>
            </a:pPr>
            <a:r>
              <a:rPr lang="en-US" sz="1200" dirty="0">
                <a:solidFill>
                  <a:schemeClr val="accent5"/>
                </a:solidFill>
              </a:rPr>
              <a:t>To take Parmana from public product to production deployments with PSPs and enterprises.</a:t>
            </a:r>
            <a:endParaRPr lang="en-US" sz="1200" dirty="0"/>
          </a:p>
        </p:txBody>
      </p:sp>
      <p:sp>
        <p:nvSpPr>
          <p:cNvPr id="8" name="use-0"/>
          <p:cNvSpPr/>
          <p:nvPr/>
        </p:nvSpPr>
        <p:spPr>
          <a:xfrm>
            <a:off x="3794760" y="1508760"/>
            <a:ext cx="4892040" cy="868680"/>
          </a:xfrm>
          <a:prstGeom prst="roundRect">
            <a:avLst>
              <a:gd name="adj" fmla="val 8421"/>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9" name="Shape 7"/>
          <p:cNvSpPr/>
          <p:nvPr/>
        </p:nvSpPr>
        <p:spPr>
          <a:xfrm>
            <a:off x="3977640" y="1746504"/>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3977640" y="17465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Text 9"/>
          <p:cNvSpPr txBox="1"/>
          <p:nvPr/>
        </p:nvSpPr>
        <p:spPr>
          <a:xfrm>
            <a:off x="4526280" y="1618488"/>
            <a:ext cx="4023360" cy="292608"/>
          </a:xfrm>
          <a:prstGeom prst="rect">
            <a:avLst/>
          </a:prstGeom>
          <a:noFill/>
          <a:ln/>
        </p:spPr>
        <p:txBody>
          <a:bodyPr wrap="square" lIns="0" tIns="0" rIns="0" bIns="0" rtlCol="0" anchor="t"/>
          <a:lstStyle/>
          <a:p>
            <a:pPr indent="0" marL="0">
              <a:buNone/>
            </a:pPr>
            <a:r>
              <a:rPr lang="en-US" sz="1400" b="1" dirty="0">
                <a:solidFill>
                  <a:schemeClr val="tx1"/>
                </a:solidFill>
              </a:rPr>
              <a:t>PSP integrations and technical partnerships</a:t>
            </a:r>
            <a:endParaRPr lang="en-US" sz="1400" dirty="0"/>
          </a:p>
        </p:txBody>
      </p:sp>
      <p:sp>
        <p:nvSpPr>
          <p:cNvPr id="12" name="Text 10"/>
          <p:cNvSpPr txBox="1"/>
          <p:nvPr/>
        </p:nvSpPr>
        <p:spPr>
          <a:xfrm>
            <a:off x="4526280" y="1929384"/>
            <a:ext cx="4023360" cy="411480"/>
          </a:xfrm>
          <a:prstGeom prst="rect">
            <a:avLst/>
          </a:prstGeom>
          <a:noFill/>
          <a:ln/>
        </p:spPr>
        <p:txBody>
          <a:bodyPr wrap="square" lIns="0" tIns="0" rIns="0" bIns="0" rtlCol="0" anchor="t"/>
          <a:lstStyle/>
          <a:p>
            <a:pPr indent="0" marL="0">
              <a:buNone/>
            </a:pPr>
            <a:r>
              <a:rPr lang="en-US" sz="1100" dirty="0">
                <a:solidFill>
                  <a:schemeClr val="accent4"/>
                </a:solidFill>
              </a:rPr>
              <a:t>Connect the authority layer where merchants already deploy agents that move money.</a:t>
            </a:r>
            <a:endParaRPr lang="en-US" sz="1100" dirty="0"/>
          </a:p>
        </p:txBody>
      </p:sp>
      <p:sp>
        <p:nvSpPr>
          <p:cNvPr id="13" name="use-1"/>
          <p:cNvSpPr/>
          <p:nvPr/>
        </p:nvSpPr>
        <p:spPr>
          <a:xfrm>
            <a:off x="3794760" y="2487168"/>
            <a:ext cx="4892040" cy="868680"/>
          </a:xfrm>
          <a:prstGeom prst="roundRect">
            <a:avLst>
              <a:gd name="adj" fmla="val 8421"/>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4" name="Shape 12"/>
          <p:cNvSpPr/>
          <p:nvPr/>
        </p:nvSpPr>
        <p:spPr>
          <a:xfrm>
            <a:off x="3977640" y="2724912"/>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3977640" y="27249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Text 14"/>
          <p:cNvSpPr txBox="1"/>
          <p:nvPr/>
        </p:nvSpPr>
        <p:spPr>
          <a:xfrm>
            <a:off x="4526280" y="2596896"/>
            <a:ext cx="4023360" cy="292608"/>
          </a:xfrm>
          <a:prstGeom prst="rect">
            <a:avLst/>
          </a:prstGeom>
          <a:noFill/>
          <a:ln/>
        </p:spPr>
        <p:txBody>
          <a:bodyPr wrap="square" lIns="0" tIns="0" rIns="0" bIns="0" rtlCol="0" anchor="t"/>
          <a:lstStyle/>
          <a:p>
            <a:pPr indent="0" marL="0">
              <a:buNone/>
            </a:pPr>
            <a:r>
              <a:rPr lang="en-US" sz="1400" b="1" dirty="0">
                <a:solidFill>
                  <a:schemeClr val="tx1"/>
                </a:solidFill>
              </a:rPr>
              <a:t>Regulatory engagement</a:t>
            </a:r>
            <a:endParaRPr lang="en-US" sz="1400" dirty="0"/>
          </a:p>
        </p:txBody>
      </p:sp>
      <p:sp>
        <p:nvSpPr>
          <p:cNvPr id="17" name="Text 15"/>
          <p:cNvSpPr txBox="1"/>
          <p:nvPr/>
        </p:nvSpPr>
        <p:spPr>
          <a:xfrm>
            <a:off x="4526280" y="2907792"/>
            <a:ext cx="4023360" cy="411480"/>
          </a:xfrm>
          <a:prstGeom prst="rect">
            <a:avLst/>
          </a:prstGeom>
          <a:noFill/>
          <a:ln/>
        </p:spPr>
        <p:txBody>
          <a:bodyPr wrap="square" lIns="0" tIns="0" rIns="0" bIns="0" rtlCol="0" anchor="t"/>
          <a:lstStyle/>
          <a:p>
            <a:pPr indent="0" marL="0">
              <a:buNone/>
            </a:pPr>
            <a:r>
              <a:rPr lang="en-US" sz="1100" dirty="0">
                <a:solidFill>
                  <a:schemeClr val="accent4"/>
                </a:solidFill>
              </a:rPr>
              <a:t>Compliance framework development, so evidence maps to what auditors and regulators ask for.</a:t>
            </a:r>
            <a:endParaRPr lang="en-US" sz="1100" dirty="0"/>
          </a:p>
        </p:txBody>
      </p:sp>
      <p:sp>
        <p:nvSpPr>
          <p:cNvPr id="18" name="use-2"/>
          <p:cNvSpPr/>
          <p:nvPr/>
        </p:nvSpPr>
        <p:spPr>
          <a:xfrm>
            <a:off x="3794760" y="3465576"/>
            <a:ext cx="4892040" cy="868680"/>
          </a:xfrm>
          <a:prstGeom prst="roundRect">
            <a:avLst>
              <a:gd name="adj" fmla="val 8421"/>
            </a:avLst>
          </a:prstGeom>
          <a:solidFill>
            <a:schemeClr val="bg1"/>
          </a:solidFill>
          <a:ln w="9525">
            <a:solidFill>
              <a:schemeClr val="accent3"/>
            </a:solidFill>
            <a:prstDash val="solid"/>
          </a:ln>
          <a:effectLst>
            <a:outerShdw sx="100000" sy="100000" kx="0" ky="0" algn="bl" rotWithShape="0" blurRad="101600" dist="25400" dir="5400000">
              <a:srgbClr val="4338CA">
                <a:alpha val="12000"/>
              </a:srgbClr>
            </a:outerShdw>
          </a:effectLst>
        </p:spPr>
      </p:sp>
      <p:sp>
        <p:nvSpPr>
          <p:cNvPr id="19" name="Shape 17"/>
          <p:cNvSpPr/>
          <p:nvPr/>
        </p:nvSpPr>
        <p:spPr>
          <a:xfrm>
            <a:off x="3977640" y="3703320"/>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3977640" y="37033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9"/>
          <p:cNvSpPr txBox="1"/>
          <p:nvPr/>
        </p:nvSpPr>
        <p:spPr>
          <a:xfrm>
            <a:off x="4526280" y="3575304"/>
            <a:ext cx="4023360" cy="292608"/>
          </a:xfrm>
          <a:prstGeom prst="rect">
            <a:avLst/>
          </a:prstGeom>
          <a:noFill/>
          <a:ln/>
        </p:spPr>
        <p:txBody>
          <a:bodyPr wrap="square" lIns="0" tIns="0" rIns="0" bIns="0" rtlCol="0" anchor="t"/>
          <a:lstStyle/>
          <a:p>
            <a:pPr indent="0" marL="0">
              <a:buNone/>
            </a:pPr>
            <a:r>
              <a:rPr lang="en-US" sz="1400" b="1" dirty="0">
                <a:solidFill>
                  <a:schemeClr val="tx1"/>
                </a:solidFill>
              </a:rPr>
              <a:t>Enterprise go-to-market and sales</a:t>
            </a:r>
            <a:endParaRPr lang="en-US" sz="1400" dirty="0"/>
          </a:p>
        </p:txBody>
      </p:sp>
      <p:sp>
        <p:nvSpPr>
          <p:cNvPr id="22" name="Text 20"/>
          <p:cNvSpPr txBox="1"/>
          <p:nvPr/>
        </p:nvSpPr>
        <p:spPr>
          <a:xfrm>
            <a:off x="4526280" y="3886200"/>
            <a:ext cx="4023360" cy="411480"/>
          </a:xfrm>
          <a:prstGeom prst="rect">
            <a:avLst/>
          </a:prstGeom>
          <a:noFill/>
          <a:ln/>
        </p:spPr>
        <p:txBody>
          <a:bodyPr wrap="square" lIns="0" tIns="0" rIns="0" bIns="0" rtlCol="0" anchor="t"/>
          <a:lstStyle/>
          <a:p>
            <a:pPr indent="0" marL="0">
              <a:buNone/>
            </a:pPr>
            <a:r>
              <a:rPr lang="en-US" sz="1100" dirty="0">
                <a:solidFill>
                  <a:schemeClr val="accent4"/>
                </a:solidFill>
              </a:rPr>
              <a:t>Turn first workflows into standard deployments across payments, procurement and customer operations.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1051560"/>
            <a:ext cx="8046720" cy="320040"/>
          </a:xfrm>
          <a:prstGeom prst="rect">
            <a:avLst/>
          </a:prstGeom>
          <a:noFill/>
          <a:ln/>
        </p:spPr>
        <p:txBody>
          <a:bodyPr wrap="square" lIns="0" tIns="0" rIns="0" bIns="0" rtlCol="0"/>
          <a:lstStyle/>
          <a:p>
            <a:pPr indent="0" marL="0">
              <a:buNone/>
            </a:pPr>
            <a:r>
              <a:rPr lang="en-US" sz="1100" b="1" spc="300" kern="0" dirty="0">
                <a:solidFill>
                  <a:schemeClr val="accent5"/>
                </a:solidFill>
              </a:rPr>
              <a:t>PARMANA</a:t>
            </a:r>
            <a:endParaRPr lang="en-US" sz="1100" dirty="0"/>
          </a:p>
        </p:txBody>
      </p:sp>
      <p:sp>
        <p:nvSpPr>
          <p:cNvPr id="3" name="Text 0"/>
          <p:cNvSpPr/>
          <p:nvPr>
            <p:ph idx="101" type="title" hasCustomPrompt="1"/>
          </p:nvPr>
        </p:nvSpPr>
        <p:spPr>
          <a:xfrm>
            <a:off x="548640" y="1417320"/>
            <a:ext cx="8046720" cy="1600200"/>
          </a:xfrm>
          <a:prstGeom prst="rect">
            <a:avLst/>
          </a:prstGeom>
          <a:noFill/>
          <a:ln/>
        </p:spPr>
        <p:txBody>
          <a:bodyPr wrap="square" lIns="0" tIns="0" rIns="0" bIns="0" rtlCol="0" anchor="t"/>
          <a:lstStyle/>
          <a:p>
            <a:pPr algn="l" indent="0" marL="0">
              <a:buNone/>
            </a:pPr>
            <a:r>
              <a:rPr lang="en-US" sz="3200" b="1" dirty="0">
                <a:solidFill>
                  <a:schemeClr val="bg1"/>
                </a:solidFill>
              </a:rPr>
              <a:t>Your business decides what autonomous systems are allowed to do</a:t>
            </a:r>
            <a:endParaRPr lang="en-US" sz="4000" dirty="0"/>
          </a:p>
        </p:txBody>
      </p:sp>
      <p:sp>
        <p:nvSpPr>
          <p:cNvPr id="4" name="Text 0"/>
          <p:cNvSpPr/>
          <p:nvPr>
            <p:ph idx="102" type="body" hasCustomPrompt="1"/>
          </p:nvPr>
        </p:nvSpPr>
        <p:spPr>
          <a:xfrm>
            <a:off x="548640" y="3246120"/>
            <a:ext cx="8046720" cy="548640"/>
          </a:xfrm>
          <a:prstGeom prst="rect">
            <a:avLst/>
          </a:prstGeom>
          <a:noFill/>
          <a:ln/>
        </p:spPr>
        <p:txBody>
          <a:bodyPr wrap="square" lIns="0" tIns="0" rIns="0" bIns="0" rtlCol="0"/>
          <a:lstStyle/>
          <a:p>
            <a:pPr indent="0" marL="0">
              <a:buNone/>
            </a:pPr>
            <a:r>
              <a:rPr lang="en-US" sz="2000" dirty="0">
                <a:solidFill>
                  <a:schemeClr val="accent5"/>
                </a:solidFill>
              </a:rPr>
              <a:t>Ready. Enforced. Proven.</a:t>
            </a:r>
            <a:endParaRPr lang="en-US" sz="2000" dirty="0"/>
          </a:p>
        </p:txBody>
      </p:sp>
      <p:sp>
        <p:nvSpPr>
          <p:cNvPr id="5" name="Text 3"/>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200" dirty="0">
                <a:solidFill>
                  <a:schemeClr val="accent5"/>
                </a:solidFill>
              </a:rPr>
              <a:t>Pavan Charak  |  founder@parmanasystems.com  |  +91 97179 94459  |  parmanasystems.com</a:t>
            </a:r>
            <a:endParaRPr lang="en-US" sz="1200" dirty="0"/>
          </a:p>
        </p:txBody>
      </p:sp>
      <p:sp>
        <p:nvSpPr>
          <p:cNvPr id="6" name="Shape 4"/>
          <p:cNvSpPr/>
          <p:nvPr/>
        </p:nvSpPr>
        <p:spPr>
          <a:xfrm>
            <a:off x="7589520" y="-1097280"/>
            <a:ext cx="2926080" cy="2926080"/>
          </a:xfrm>
          <a:prstGeom prst="ellipse">
            <a:avLst/>
          </a:prstGeom>
          <a:solidFill>
            <a:schemeClr val="accent1">
              <a:alpha val="30000"/>
            </a:schemeClr>
          </a:solidFill>
          <a:ln w="12700">
            <a:solidFill>
              <a:schemeClr val="accent1">
                <a:alpha val="0"/>
              </a:schemeClr>
            </a:solidFill>
            <a:prstDash val="solid"/>
          </a:ln>
        </p:spPr>
      </p:sp>
    </p:spTree>
  </p:cSld>
  <p:clrMapOvr>
    <a:masterClrMapping/>
  </p:clrMapOvr>
</p:sld>
</file>

<file path=ppt/theme/theme1.xml><?xml version="1.0" encoding="utf-8"?>
<a:theme xmlns:a="http://schemas.openxmlformats.org/drawingml/2006/main" name="Parmana">
  <a:themeElements>
    <a:clrScheme name="Parmana">
      <a:dk1>
        <a:srgbClr val="1A1A1A"/>
      </a:dk1>
      <a:lt1>
        <a:srgbClr val="FFFFFF"/>
      </a:lt1>
      <a:dk2>
        <a:srgbClr val="4338CA"/>
      </a:dk2>
      <a:lt2>
        <a:srgbClr val="F5F3FF"/>
      </a:lt2>
      <a:accent1>
        <a:srgbClr val="6366F1"/>
      </a:accent1>
      <a:accent2>
        <a:srgbClr val="4338CA"/>
      </a:accent2>
      <a:accent3>
        <a:srgbClr val="E5E7EB"/>
      </a:accent3>
      <a:accent4>
        <a:srgbClr val="5F5F5F"/>
      </a:accent4>
      <a:accent5>
        <a:srgbClr val="A5A8F5"/>
      </a:accent5>
      <a:accent6>
        <a:srgbClr val="1A1A1A"/>
      </a:accent6>
      <a:hlink>
        <a:srgbClr val="4338CA"/>
      </a:hlink>
      <a:folHlink>
        <a:srgbClr val="4338CA"/>
      </a:folHlink>
    </a:clrScheme>
    <a:fontScheme name="Parman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Parmana Systems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Parmana investor deck</dc:title>
  <dc:subject>PptxGenJS Presentation</dc:subject>
  <dc:creator>Pavan Charak</dc:creator>
  <cp:lastModifiedBy>Pavan Charak</cp:lastModifiedBy>
  <cp:revision>1</cp:revision>
  <dcterms:created xsi:type="dcterms:W3CDTF">2026-10-06T07:11:40Z</dcterms:created>
  <dcterms:modified xsi:type="dcterms:W3CDTF">2026-10-06T07:11:40Z</dcterms:modified>
</cp:coreProperties>
</file>